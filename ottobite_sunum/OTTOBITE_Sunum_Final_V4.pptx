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6000" b="1">
                <a:solidFill>
                  <a:srgbClr val="C0392B"/>
                </a:solidFill>
                <a:latin typeface="Arial"/>
              </a:defRPr>
            </a:pPr>
            <a:r>
              <a:t>OTTOBITE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>
                <a:solidFill>
                  <a:srgbClr val="2C3E50"/>
                </a:solidFill>
                <a:latin typeface="Calibri Light"/>
              </a:defRPr>
            </a:pPr>
            <a:r>
              <a:t>Garson Davranışları ve İş Önceliği Rehberi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OTTOBITE Garson Rehberi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G ar s on D a vr anış l arı v e İş Önceliği Rehberi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A maç: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Bu dok üman, OTTOBITE s alon s er visinde g ör e v al an tüm s er vis per s onelinin;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Doğr u da vr anış biçimini benims emesi,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 oğun s er vis anl arında doğr u iş önceliğini k ur abilmesi,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 alon düz enini v e mis afir memnuniy etini k or uy abilmesi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amacıyl a ha zırl anmıştır 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Bu r ehber ok unmak için değil, uy gul anmak için  ha zırl anmıştır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1. G ar s onluk Bilinci v e T emel Zihniy 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G ar s onluk y alnız c a sip ariş almak değildir 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G ar s on, s alonun t empo s unu, mis afirin r uh halini v e s er visin akışını y önetir 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Mis afir , iş letmeyi;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G ar s onun b akışından,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 onuşma t ar zından,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 alondakidur uş undan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anl ar v e de ğ erlendirir 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Gö z önündedir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Dikk a tlidir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 or umluluk s ahibidir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Ş u unu tulmamalıdır: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G ar s onun da vr anışı, iş letmenin k alit e sini t emsil eder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2. T emel G ar s on D a vr anış K ur al l arı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Bu bölümde y er al an k ur al l ar t artışma y a açık değildir 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 üm s er vis per s oneli t ar afından ek sik siz uy gul anır 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/ /  D u r u ş  v e  S a l o n  İ ç i n d e k i  T a v ı 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G ar s on s alonda dik v e ha zırdur ur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E l cept e g e zilme z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 ol l ar b ağ lı ş ekildedur ulma z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Duv ar a y as l anılma z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B o ş bo ş a y ak t a bek lenme zG ar s on s alonda yk en: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“Her an ç ağrıl abilirim ”  bilinciyle har ek et eder 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/ /  M a s a y a  Y a k l a ş m a  v e  İ l e t i ş i m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Mas a y a y ak l aşırk en g ö z t eması k ur ulur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Mas a y a sırt dönüler ek k onuş ulma z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Mis afirin yüzüne b akmadan sip ariş alınma z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K ul l anılmaması gereken if adeler: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“Bir Saniye ”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“Dur b ak a yım ” •  “Y oğunum ”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K ul l anılması gereken y ak l aşım: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“Hemen il gileniy or um ”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“ Şimdi yardımcı oluyorum ”- T on s akin, net v e k ontr ol lü olmalıdır 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/ /  S a l o n  İ ç i n d e  D a v r a n ı ş  D i s i p l i n i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P er s onel k endi ar asında yük s ek s e s le k onuşma z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Gülüşmeler mis afir dikk a tini çek ecek s e viy ede olma z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 elef on k e sinlik le k ul l anılma z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Ş ef s alonda yk en: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G ar s on g ör ünür olur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 açma z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 ak l anma 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3. Y oğun S er vis t e G ar s onun Düş ünme Ş ek li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Bu bölüm, s er vis k alit e sini doğr udan belirler 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 oğunluk t a hız lı olmak değil, doğr u öncelik v ermek  önemlidir 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P anik, ha t ayı artırır 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Öncelik, düz eni s ağ l ar 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/ /  D o ğ r u  İ ş  Ö n c e l i ğ i  S ı r a l a m a s ı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OTTOBITE  s er visinde g ar s on ş u sır ayı bilmelidir: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 eni g elen mis afir / bo ş mas a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Sip ariş v ermek is t e y en mas a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 er visi çık an mas a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He s ap is t e y en mas a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Diğ er işler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Bu sır al ama y oğunluk t a de ğişme z.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Her s er vistür ü;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Dikk a t,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Düz en,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Mis afirle doğr u iletişim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g er ek tirir 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G ar s on s er vistür üne g ör e zihinsel ol ar ak ha zırl anmalı v e her s er visi a ynı pr of e s y onel lik le yür ü tmelidir 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/ /  A y n ı  A n d a  H e r  Ş e y  Y a p ı l m a z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A ynı anda 5 mas a y a y etişme y e ç alışılma z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Bir işi y arım bır akıp diğ erine g eçilme z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 apıl an iş t amaml anır , s onr a diğ erine g eçilir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Ş ef y önlendirmesi her z aman önceliklidir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4. Y oğun S er vis t e Y apılmaması gereken D a vr anış l 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A ş ağıdaki da vr anış l ar s er vis k alit e sini düş ür ür v e kabul edilme z: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“B en o mas a y a b akmıy or um ”  demek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Mas ayı g örme z den g elmek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Mu t f ak t an v e y a s alondan k açmak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Ş ef e s a vunma yapmak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Mis afir önünde t artışmak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Bu da vr anış l ar OTTOBITE s er vis anl a yışına uy gun değildir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5. G ar s on – S alon Ş efi İlişkisi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S alon ş efi, s er visin düz eninden s or umludur 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G ar s on ş unu bilmelidir: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Ş ef uy arısı kişisel değildir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Ş ef y önlendirmesi t artışılma z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 er vis sır asında s a vunma y apılma z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S er vis anında uy gul ama y apılır ,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de ğ erlendirme s er vis s onr ası y apılır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7. Açılış v e K ap anış Disiplini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Açılış v e k ap anış s a a tlerinde uyuş uk luk kabul edilemez.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 a v aş har ek et etmek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Eğ lence modunda ç alışmak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 ür ek li s ohbet halinde olmak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0.5x hız l a iş yapmak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kabul edilemez da vr anış l ardır 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Açılış v e k ap anış: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Dikk a t is t er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Odak is t er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Disiplin is t er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Açılış v e k ap anış ne k adar düz gün y apılır s a, v ar diy a o k adar r aha t g eçer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8. İş Hızı v e İş Önceliği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Bir g ar s on ş unu bilmelidir: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3 dakik alık bir iş 15 dakik a y auz a tıl ama z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 a v aş lık beceri değildir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Odağın dağılması iş ak s atır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K endi po s t asında y ap ac ağı 4 b asit işi;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 ohbet eder ek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Etr aﬂa il gilener ek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Önceliği y anlış belirle y er ek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uz a tmak kabul edilemez.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İş t e olduğunu bilmek v e b una g ör e da vr anmak z or unluluktur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9. İş Esnasında T u tum v e beden Dili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S er vis sır asında: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 ür ek li şikâyet etmek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yakınmak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Uﬂamak, p uﬂamak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Yüz mimikleriyle ima yapmak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k e sinlik le kabul edilemez.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G ar s onun yüz ifadesi v e beden Dili;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Mis afir e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Takım arkadaşlarına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Operasyona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olumsuz yansır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10. Gr upl aşma, Dedik odu v e iletişim S or unl arı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Gr upl aşma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Dedik odu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 ulis yapmak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OTTOBITE ç alışma düz enine a ykırıdır 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F ark lı dep artman ş eﬂeriyle v e y a per s onel leriyle: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 artışma y a girmek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Münak aş a y aş amak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S or unl ar s er vis dışında v e doğr u k anal l arl a( Herhangi bir dep artmandan birisiyle bir s or un y aş andıy s a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kişisel de gil o dep artmanin ş efiyle iletisime g ecilmelidir .) iletilir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11. K ur al l ar a U yum v e P r of e s y onel D a vr anış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Y önetim t ar afından belirlenen k ur al l arı: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Esnetmek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 uis timal etmek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 endi lehine y or uml amak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Herk e s: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İş e snasında uyumlu olmak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 endi g ör e vini en iyi ş ekilde yapmak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zorunludur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12. Mol al ar v e Gör e v T akibi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Hiçbir per s onel b aşk a bir per s onelin mol asını t akip etme z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Mol al ar y önetim t ar afından düz enlenir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Bu k onuda bir e y sel k ontr ol v e y a y or um y apılma 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13. P o s t a Y önetimi v e Mas a K ontr olü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G ar s on k endi po s t asındakimas al ar dan t amamen s or umludur 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S ür ek li uy arıl andur uml ar: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 opl anmamış peçet eler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Is l ak mendil çöpleri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Şiş e bo ş l arı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De ğiş tirilmemiş k ül t abl al arı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Mas aüz erindeki müş t eri çöpleri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İyi bir g ar s on k endi po s t asındaki 5 mas ayı ek sik siz y önetir 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S ür ek li uy arı g er ektir en ç alışma 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14. K işisel Gör ünüm v e K ıy af et Disiplini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B a y an per s onel s açını açık k ul l anama z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İş kıy af eti ne is e o giyilir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 ıy af et dışında kişisel y or um y apılma z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Gör ünüm iş letmenin ciddiy etini y ansıtır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15. iletişim Bilinci (EN ÖNEMLİ K ONU)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OTTOBITE s er visinin en önemli uns ur u iletişimdir 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 er visin ha t asız ilerlemesi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P o s t a k ontr olü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 oğunluk y önetimi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anc ak doğr u iletişimle s ağ l anır 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P o s t a t erk edilecek s e: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Takım ark adaş l arı bil gilendirilir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Ş ef haber dar edilir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Haber siz po s t a t erk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16. Hiy er ar şi v e S a y gı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Hiçbir per s onel b aşk a bir per s onele üs tü gibi da vr anama z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 etki y alnız c a g ör e v t anımıyl a sınırlıdır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S a y gı k ar şılık lıdır v e herk e s için g eçerlidir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17. İş e Z amanında Gelme Disiplini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İş e g eç k almak;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Oper as y onu ak s atır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Takım ark adaş l arını z ordur umda bır akır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 er vis düz enini bo z ar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Geç k almak bir alışk anlık hâline g eleme z.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Her per s onel v ar diy asına: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Z amanında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Ha zır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İş e odak l anmış ş ekilde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b aş l amak zorunludur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18. Mas a K alkış S onr ası T emiz lik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Mis afir k alk tığında y alnız c a mas a üs tü değil;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Mas a al tı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 andaly eler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Genel düz en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k ontr ol edilir 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Mas a al tına f ar aş a tılmadan y eni mis afir alınma z.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T emiz lenme y en mas a, y arım y apılmış iştir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19. Y ar dıml aşma v e Takım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S er vis bir e y sel değil, ekip işidir 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 endi po s t asında işi ol an g ar s on ç alışır diğ er po s t adaki g ar s on müs ait s e de s t ek v erir 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Eğ er: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 enin ak lında 5 iş v ar s a diğ er po s t a bo şdur uy or s a Y ar dım is t emek z or unluluktur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20. iletişimde Esnek lik v e Açık lık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S er visin ak s amaması için: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Herk e s birbirine k onuş abilmelidir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 ims e bir ş e y s ö yleme y e çekinmemelidir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Bir per s onel, b aşk a bir per s onele bir ş e y deme y e çekinir s e iş ak s ar 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iletişimde: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Esnek lik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Açık lık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Netlik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zorunludur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21. S e s siz T epki v e ima Y as ağı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imalı k onuşmal ar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 e s siz t epkiler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Yüz mimikleriyleme s aj v erme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S or un v ar s a açık ç a v e doğr u y er de dile g etirilir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22. B o ş Durma v e O y al ama Y as ağı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S er vis sır asında: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B o ş bo ş g e zmek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O y al andığıiz lenimi v ermek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Ger ek siz har ek etlerle z aman har c amak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Her an y apıl ac ak bir iş v ardır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23. Al an S ahiplenme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Her g ar s on k endi alanını s ahiplenir 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" Or ası benim alanım değil" y ak l aşımı y oktur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 alon herk e sindir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ihtiyaç ol an y er de de s t ek olunur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24. Mu t f ak v e B ar ile iletişim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Mu t f ak v e b ar: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 artışma alanı değildir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Emir v erilen y er değildir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iletişim s a y gılı v e net olmalıdır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25. Y oğunluk t a S e s siz v e K ontr ol lü Çalışma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Y oğunluk: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 e s yük seltme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 o ş turma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P anik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s ebebi değildir 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K ontr ol lü ç alış an g ar s on, y oğunluğu y önetir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26. Mis afir Önünde Ekip Disiplini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Mis afir önünde: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U y arı y apılma z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 artışılma z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Rol k e silme z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T üm ekip t ek vüc u t gibi g ör ünmelidir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27. K işisel S or unl arı İş e Y ansı tmama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K işisel pr oblemler: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Yüz if adelerine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 a vırl ar a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 onuşmal ar a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y ansı tıl ama 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28. İş Bitmeden R aha tl ama Y as ağı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İş bitmeden: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R aha tl ama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 ağılma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 empo düş ürme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29. T ekr ar Eden Ha t al 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A ynı ha t anın s ür ek li y apılması: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Dikk a t siz liktir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Umur s ama z lıktır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30. K endi K endini K ontr ol Etme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İyi bir g ar s on: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U y arı bek leme z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 endini k ontr ol eder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Ek sik lerini f ark eder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31. V ar diy a B o yunc a Ha zır Olma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V ar diy a bo yunc a: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Zihinsel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F izik sel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ol ar ak ha zır olmak zorunludur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32. Ger ek siz Y or um v e Miz ah Y as ağı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S er vis sır asında: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Ger ek siz ş ak a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A şırı s amimiy et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33. Gör e v T anımına S adak a 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Herk e s k endi g ör e v t anımı içinde har ek et eder 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Y etki aşımı y apıl ama 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34. Ort ak A maç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Herk esin ort ak amacı: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Düz gün s er vis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Ha t asız oper as y on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Memnun mis afir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Olmalıdır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 5.  Q R  D e ğ e r l e n d i r m e  v e  M i s a f i r  G e r i  B i l d i r i m 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S er vis k alit e sinin ölç ülmesi için: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İsim v eriler ek sel aml anmalıdır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 er vis s ahiplenilmelidir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Mis afir g örme z den g elineme z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“Merhab a, ben Ahmet. S er visiniz le ben il gilenece ğim. ”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QR T alebi v e Z amanl ama: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 er vis bitimi bek lenir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 ohbet bölünme z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B askı k ur ulma z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“ Siz leri ağırl amak bir k e yif ti. Hizmet k alit emiz hakkındaki olumlu g eri bildirimleriniz, ekibimiz için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motiv as y on k a ynağı ol ac aktır . ”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iletişim v e T a vır: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Gö z t eması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Nötr v e na zik yüz ifadesi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P r of e s y onelme s af e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zorunludur 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S a vunma, ima v e g er ek siz miz ah kabul edilemez.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Her g ar s on, s er visinin p u anl anac ağı bilinciyle har ek et eder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 6.  M e m n u n i y e t s i z l i k  Y ö n e t i m i  v e  Ç ö z ü m  S ü r e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Mis afir şik a y eti v e y a olumsuz g eri bildirimdur umunda: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İl gili y öneticiy e anında haber v erilir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P er s onel k endi başına k ar ar alma z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 işisel çö züm s ür ecine girilme z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Y önetici bil gilendirmesi zorunludur 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İnisiy a tif v e Esnek lik: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Mis afirin mu tlu a yrılması e s astır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Oper as y onel k ur al l ar y önetici k ontr olünde e snetilebilir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Bil gilendirme Y ük ümlülüğü: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S unul an çö züm, "istisnai birdur um" olduğu vurgulanarak mis afir e aktarılır 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Örnek Diy alog: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"Normalde k ah v al tı s er visimiz 13:00' t e s ona ermek t edir; anc ak b ugün mu t f ağımız l a görüşerek siz e ö zel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bir is tisna sağladık.  K e yiﬂi bir dene yim dileriz. "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K endi başına k ur al e snetmek v e y a s or unu gizlemek 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 7.  K o o r d i n e l i  M o l a  v e  İ ş  A k ı ş ı  Y ö n e t i m 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S er vis akışının k e sintisiz ilerlemesi için: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Birbiriyle bağlantılı birimler a ynı anda mol a y a çık ama z.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Mol a pl anl aması, oper as y onel boşluk yaratmayacak ş ekilde y apılır 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Ekip içi k oor dinas y on mol a önce sinde t amaml anır 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Hizmetin s ür ek liliği e s astır 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Birim Çakışması: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B ar / B ar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 er vis / S er vis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 as a / Vitrin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A ynı g ör e v t anımına s ahip v e y a birbirini y edek lemesi gereken b u birimlerin, a ynı anda mol a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pl anl aması kabul edilemez.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K ritik K ur al: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Mol a s a a tlerinde bir e y sel is t ek değil, oper as y onel ihtiyaç  önceliklidir . Y önetici onayı v e birimler ar ası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mutabakat zorunludur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 8.  B o ş  T o p l a m a  v e  T e p s i  D ü z e n 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S er vis güv enliği v e oper as y onel hız için: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A ğırlık merk e z de t opl anmalıdır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Büyük t en k üç üğ e doğr u is tiﬂeme y apılmalıdır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K ırılma riski ol an p ar ç al ar a yrış tırılmalıdır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T epsi Deng esi: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A ğır v e b üyük p ar ç al ar merk e z e y erle ş tirilir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B ar dak l ar v e t ab ak l ar k ontr olsüz ş ekilde yığıl ama z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Ha t alı İs tiﬂeme: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Deng esi bo zuk yük leme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Gör üş ü engel le y ecek yük s ek lik t e yığma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T ab ak l arın k a ymasına neden ol ac ak dizim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Düz enli dizilen t epsi; pr of e s y onel g ör ünüm v e iş güv enliği için zorunludur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 9.  M i s a f i r  K a r ş ı l a m a  v e  P r o a k t i f  T a k i 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S alonun c anlılığı v e mis afir k onf or u için: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K apıdan gir en her mis afir anında f ark edilmelidir 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Gö z t eması v e t ebe s s üm ile "Ho ş g eldiniz " k ar şıl aması y apılır 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Mis afir , mas a y a y erle ş ene k adar e ş lik edilir 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Müş t eri k apıda bek letileme z, g örme z den g elineme z.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ihtiyaç His s etme (P r o ak tif Hizmet):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Mis afir g ar s onu ar ama z; g ar s on mis afiri izler 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Bit en içecekler , a z al an peçet eler v e bo ş al an t ab ak l ar t akip edilir 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Mis afirin çe vr e y e b akması v e y ael k aldırması "Hizmet Gecikmesi" ol ar ak kabul edilir 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T akip Es as l arı: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B o ş al an b ar dağın y enilenmesi t ek lif edilir 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ihtiyaç duyulmadan peçet e/ s er vis de s t e ği s ağ l anır 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Mis afirle g ö z t eması k urmak için s alon s ür ek li t ar anır 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Mis afiriel k aldırma y a v e y a s e s lenme y e mecb ur bır akmak 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4 0.  H a z ı r l ı k  v e  A r k a  P l a n  ( B a c k )  İ ş l e r i  Y ö n e t i m 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S er vis k alit e sinin s ür ek liliği için: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Ça t al -bıç ak silme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Takım v e ekipman çekme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İs tiﬂeme v e düz enleme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iş leri, s er vis y oğunluğu v e mis afir tr afiğine g ör e pl anl anır 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Öncelik S ır al aması: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Mis afir her z aman ha zırlık iş lerinden önceliklidir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S alon bo ş bır akıl ar ak ark a pl ana odak l anıl ama z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Y oğunluk anında b üyük ç aplı ha zırlık iş lerine girilmesi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Z amanl ama v e U y gul ama: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Ha zırlık l ar s er vis öncesi v e y a s akin s a a tler de t amaml anır 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Mu t f ak t an Takım çekme v e silme iş lemleri mis afiri r aha t sız etme y ecek ş ekilde s e s siz ce yür ü tülür 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Ek sikler , s er vis kriz e girmeden pr o ak tif (önceden) ol ar ak giderilir 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S er vis önceliği e s astır 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A rk a pl an iş leri, s er vis akışını engel lemek için değil, de s t ek lemek içindir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4 1.  O p e r a s y o n e l  İ l e t i ş i m d e  N e t l i k  v e  K ı s a l ı 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Hız lı v e ha t asız iş akışı için: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iletişim en a z k elime yle , en net ş ekilde k ur ulmalıdır 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Uzun açık l amal ar y erine s onuç odak lı c ümleler s eçilir 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Me s aj, k ar şı t ar afın işini ak s a tma y ac ak hız da aktarılır 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"3 k elime yle anl a tıl abilecek birdur um, g er ek siz det a yl arl auz a tıl ama z. "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Uzun v e K armaşık A nl a tım: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Dinle yicinin odağını dağıtır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Diğ er iş lerin unu tulmasına neden olur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Oper as y onu y a v aş l atır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A nl a tım B o zuk luğu v e K armaş a: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Ol ayı s aptırmak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K onuyu dol andırmak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Ger ek siz det a yl ar a girmek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Hız lı, doğr udan v e net iletişim zorunludur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42. Son Hatırlatma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Disiplin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Dikk a t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Takım bilinci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is t er 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Bu r ehber de y er al an tüm maddeler uy gul anmak zorunludur 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A na F ikir:  OTTOBITE ç a tısı al tında hangi birimde olur s ak ol alım, her birimiz mark amızın y aş a y an bir er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t emsilcisiyiz. T emel de ğ erimiz; birimler ar ası k us ur suz bir uyum v e yük s ek s or umluluk bilinciyle har ek et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eder ek, mis afirlerimiz e y alnız c a bir Hizmet değil, disiplin v e ne z ak etle ör ülmüş bir dene yim s unmaktır 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Bizim için b aş arı; mu t f ak t an k as a y a, s er vis t en b ar a k adar her nok t ada a ynı pr of e s y onel t a vrı sergileyen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" t ek bir ekip " ol abilmektir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