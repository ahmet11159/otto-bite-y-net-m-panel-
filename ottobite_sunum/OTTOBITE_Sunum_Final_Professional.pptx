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Garson Davranışları ve İş Önceliği Rehberi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Amaç: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doküman, OTTOBITE salon servisinde görev alan tüm servis personelinin;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Doğru davranış biçimini benimsemesi,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Yoğun servis anlarında doğru iş önceliğini kurabilmesi,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düzenini ve misafir memnuniyetini koruyabilmesi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amacıyla hazırlanmıştır.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rehber okunmak için değil, uygulanmak için hazırlanmıştır.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Garsonluk yalnızca sipariş almak değildir.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Garson, salonun temposunu, misafirin ruh halini ve servisin akışını yönetir.</a:t>
            </a:r>
          </a:p>
          <a:p>
            <a:pPr>
              <a:spcAft>
                <a:spcPts val="700"/>
              </a:spcAft>
              <a:defRPr sz="1400" i="1">
                <a:solidFill>
                  <a:srgbClr val="2C3E50"/>
                </a:solidFill>
                <a:latin typeface="Calibri"/>
              </a:defRPr>
            </a:pPr>
            <a:r>
              <a:t>Misafir, işletmeyi;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Garsonun bakışından,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Konuşma tarzından,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Salondaki duruşundan</a:t>
            </a:r>
          </a:p>
          <a:p>
            <a:pPr>
              <a:spcAft>
                <a:spcPts val="700"/>
              </a:spcAft>
              <a:defRPr sz="1400" i="1">
                <a:solidFill>
                  <a:srgbClr val="2C3E50"/>
                </a:solidFill>
                <a:latin typeface="Calibri"/>
              </a:defRPr>
            </a:pPr>
            <a:r>
              <a:t>anlar ve değerlendirir.</a:t>
            </a:r>
          </a:p>
          <a:p>
            <a:pPr>
              <a:spcBef>
                <a:spcPts val="1400"/>
              </a:spcBef>
              <a:defRPr b="1" sz="1600">
                <a:solidFill>
                  <a:srgbClr val="2C3E50"/>
                </a:solidFill>
                <a:latin typeface="Calibri"/>
              </a:defRPr>
            </a:pPr>
            <a:r>
              <a:t>OTTOBITE'de garson: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Göz önündedir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Sorumluluk sahibidir</a:t>
            </a:r>
          </a:p>
          <a:p>
            <a:pPr>
              <a:spcAft>
                <a:spcPts val="56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Şu unutulmamalıdır:</a:t>
            </a:r>
          </a:p>
          <a:p>
            <a:pPr>
              <a:spcAft>
                <a:spcPts val="700"/>
              </a:spcAft>
              <a:defRPr sz="1400" i="1">
                <a:solidFill>
                  <a:srgbClr val="2C3E50"/>
                </a:solidFill>
                <a:latin typeface="Calibri"/>
              </a:defRPr>
            </a:pPr>
            <a:r>
              <a:t>Garsonun davranışı, işletmenin kalitesini temsil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Bu bölümde yer alan kurallar tartışmaya açık değildir.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Tüm servis personeli tarafından eksiksiz uygulanır.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Duruş ve Salon İçindeki Tavır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Garson salonda dik ve hazır durur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El cepte gezilmez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Kollar bağlı şekilde durulmaz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Duvara yaslanılmaz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Boş boş ayakta beklenmez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Garson salondayken:</a:t>
            </a:r>
          </a:p>
          <a:p>
            <a:pPr>
              <a:spcAft>
                <a:spcPts val="600"/>
              </a:spcAft>
              <a:defRPr sz="1200" i="1">
                <a:solidFill>
                  <a:srgbClr val="3C3C3C"/>
                </a:solidFill>
                <a:latin typeface="Calibri"/>
              </a:defRPr>
            </a:pPr>
            <a:r>
              <a:t>“ Her an çağrılabilirim” bilinciyle hareket eder. ”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Masaya Yaklaşma ve İletişim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Masaya yaklaşırken göz teması kurulur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Masaya sırt dönülerek konuşulmaz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Misafirin yüzüne bakmadan sipariş alınmaz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Kullanılmaması gereken ifadeler: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“Bir saniye”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“Dur bakayım”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“Yoğunum”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Kullanılması gereken yaklaşım: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“Hemen ilgileniyorum”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“Şimdi yardımcı oluyorum”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Ton sakin, net ve kontrollü olmalıdır.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Salon İçinde Davranış Disiplini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Personel kendi arasında yüksek sesle konuşmaz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çekecek seviyede olmaz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Telefon kesinlikle kullanılmaz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Şef salondayken: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Garson görünür olur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Kaçmaz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Saklanmaz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Bu bölüm, servis kalitesini doğrudan belirler.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Yoğunlukta hızlı olmak değil, doğru öncelik vermek önemlidir.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Panik, hatayı artırır.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Öncelik, düzeni sağlar.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Doğru İş Önceliği Sıralaması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OTTOBITE servisinde garson şu sırayı bilmelidir: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Yeni gelen misafir / boş masa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Sipariş vermek isteyen masa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Servisi çıkan masa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Hesap isteyen masa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Diğer işler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Bu sıralama yoğunlukta değişmez.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Her servis türü;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Düzen,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Misafirle doğru iletişim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gerektirir.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Garson servis türüne göre zihinsel olarak hazırlanmalı ve her servisi aynı profesyonellikle yürütmelidir.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Aynı Anda Her Şey Yapılmaz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Aynı anda 5 masaya yetişmeye çalışılmaz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Bir işi yarım bırakıp diğerine geçilmez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Yapılan iş tamamlanır, sonra diğerine geçilir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Şef yönlendirmesi her zaman önceliklidir.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Aşağıdaki davranışlar servis kalitesini düşürür ve kabul edilmez: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“Ben o masaya bakmıyorum” demek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Masayı görmezden gelmek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Mutfaktan veya salondan kaçmak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Şefe savunma yapmak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Salon şefi, servisin düzeninden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Garson şunu bilmelidir: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 uyarısı kişisel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Şef yönlendirmesi tartışılmaz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sırasında savunma yapılmaz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800"/>
              </a:spcBef>
              <a:defRPr b="1" sz="1600">
                <a:solidFill>
                  <a:srgbClr val="C00000"/>
                </a:solidFill>
                <a:latin typeface="Calibri"/>
              </a:defRPr>
            </a:pPr>
            <a:r>
              <a:t>AÇILIŞ VE KAPANIŞ SAATLERINDE UYUŞUKLUK KABUL EDILEMEZ.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Yavaş hareket etmek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Eğlence modunda çalışmak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Sürekli sohbet halinde olmak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0.5x hızla iş yapmak</a:t>
            </a:r>
          </a:p>
          <a:p>
            <a:pPr algn="ctr">
              <a:spcBef>
                <a:spcPts val="800"/>
              </a:spcBef>
              <a:defRPr b="1" sz="1600">
                <a:solidFill>
                  <a:srgbClr val="C00000"/>
                </a:solidFill>
                <a:latin typeface="Calibri"/>
              </a:defRPr>
            </a:pPr>
            <a:r>
              <a:t>KABUL EDILEMEZ DAVRANIŞLARDIR.</a:t>
            </a:r>
          </a:p>
          <a:p>
            <a:pPr>
              <a:spcBef>
                <a:spcPts val="16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Açılış ve kapanış: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 ister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Odak ister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Disiplin ister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Bir garson şunu bilmelidir: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3 dakikalık bir iş 15 dakikaya uzatılamaz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Yavaşlık beceri değildir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Odağın dağılması iş aksatır</a:t>
            </a:r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Kendi postasında yapacağı 4 basit işi;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Sohbet ederek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Etrafla ilgilenerek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Önceliği yanlış belirleyerek</a:t>
            </a:r>
          </a:p>
          <a:p>
            <a:pPr algn="ctr">
              <a:spcBef>
                <a:spcPts val="900"/>
              </a:spcBef>
              <a:defRPr b="1" sz="1800">
                <a:solidFill>
                  <a:srgbClr val="C00000"/>
                </a:solidFill>
                <a:latin typeface="Calibri"/>
              </a:defRPr>
            </a:pPr>
            <a:r>
              <a:t>UZATMAK KABUL EDILEMEZ.</a:t>
            </a:r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Sürekli şikâyet etmek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Uflamak, puflamak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 algn="ctr">
              <a:spcBef>
                <a:spcPts val="800"/>
              </a:spcBef>
              <a:defRPr b="1" sz="1600">
                <a:solidFill>
                  <a:srgbClr val="C00000"/>
                </a:solidFill>
                <a:latin typeface="Calibri"/>
              </a:defRPr>
            </a:pPr>
            <a:r>
              <a:t>KESINLIKLE KABUL EDILEMEZ.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Garsonun yüz ifadesi ve beden dili;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Misafire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olumsuz yansır.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Gruplaşma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Dedikodu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Kulis yapmak</a:t>
            </a:r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OTTOBITE çalışma düzenine aykırıdır.</a:t>
            </a:r>
          </a:p>
          <a:p>
            <a:pPr>
              <a:spcBef>
                <a:spcPts val="18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Farklı departman şefleriyle veya personelleriyle: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Tartışmaya girmek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Münakaşa yaşamak</a:t>
            </a:r>
          </a:p>
          <a:p>
            <a:pPr algn="ctr">
              <a:spcBef>
                <a:spcPts val="900"/>
              </a:spcBef>
              <a:defRPr b="1" sz="18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Sorunlar servis dışında ve doğru kanallarla (Herhangi bir departmandan birisiyle bir sorun yaşandıysa, kişisel değil o departmanın şefiyle iletişime geçilmelidir.)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Yönetim tarafından belirlenen kuralları: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Suistimal etmek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lehine yorumlamak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Herkes: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esnasında uyumlu olmak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görevini en iyi şekilde yapmak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personelin molasını takip etmez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Molalar yönetim tarafından düzenlenir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Bu konuda bireysel kontrol veya yorum yapılmaz.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Garson kendi postasındaki masalardan tamamen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Sürekli uyarılan durumlar: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Toplanmamış peçeteler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Islak mendil çöpleri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Şişe boşları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Değiştirilmemiş kül tablaları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 üzerindeki müşteri çöpleri</a:t>
            </a:r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İyi bir garson kendi postasındaki 5 masayı eksiksiz yönetir.</a:t>
            </a:r>
          </a:p>
          <a:p>
            <a:pPr algn="ctr">
              <a:spcBef>
                <a:spcPts val="900"/>
              </a:spcBef>
              <a:defRPr b="1" sz="1800">
                <a:solidFill>
                  <a:srgbClr val="C00000"/>
                </a:solidFill>
                <a:latin typeface="Calibri"/>
              </a:defRPr>
            </a:pPr>
            <a:r>
              <a:t>SÜREKLI UYARI GEREKTIREN ÇALIŞMA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Bayan personel saçını açık kullanamaz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kıyafeti ne ise o giyilir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Kıyafet dışında kişisel yorum yapılmaz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Görünüm işletmenin ciddiyetini yansıtır.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OTTOBITE servisinin en önemli unsuru iletişimdir.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Servisin hatasız ilerlemesi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Posta kontrolü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Yoğunluk yönetimi</a:t>
            </a:r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ancak doğru iletişimle sağlanır.</a:t>
            </a:r>
          </a:p>
          <a:p>
            <a:pPr>
              <a:spcBef>
                <a:spcPts val="18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Posta terk edilecekse: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 bilgilendirilir</a:t>
            </a:r>
          </a:p>
          <a:p>
            <a:pPr>
              <a:spcAft>
                <a:spcPts val="72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haberdar edilir</a:t>
            </a:r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Habersiz posta terk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personele üstü gibi davranamaz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Yetki yalnızca görev tanımıyla sınırlıdır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Saygı karşılıklıdır ve herkes için geçerlidir.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İşe geç kalmak;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Operasyonu aksatır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Takım arkadaşlarını zor durumda bırakır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Servis düzenini bozar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Geç kalmak bir alışkanlık hâline gelemez.</a:t>
            </a:r>
          </a:p>
          <a:p>
            <a:pPr>
              <a:spcBef>
                <a:spcPts val="1600"/>
              </a:spcBef>
              <a:defRPr b="1" sz="1800">
                <a:solidFill>
                  <a:srgbClr val="2C3E50"/>
                </a:solidFill>
                <a:latin typeface="Calibri"/>
              </a:defRPr>
            </a:pPr>
            <a:r>
              <a:t>Her personel vardiyasına: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Zamanında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Hazır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İşe odaklanmış şekilde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başlamak zorundadır.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Misafir kalktığında yalnızca masa üstü değil;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 altı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Sandalyeler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Genel düzen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Masa altına faraş atılmadan yeni misafir alınmaz.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Temizlenmeyen masa, yarım yapılmış iştir.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Servis bireysel değil, ekip işidir.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 postasında işi olan garson çalışır, diğer postadaki garson müsaitse destek verir.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Eğer: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Senin aklında 5 iş varsa diğer posta boş duruyorsa yardım istemek zorunluluktur.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Servisin aksamaması için: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Herkes birbirine konuşabilmelidir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Kimse bir şey söylemeye çekinmemelidir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Bir personel, başka bir personele bir şey demeye çekinirse iş aksar.</a:t>
            </a:r>
          </a:p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Esneklik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Açıklık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İmalı konuşmalar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Sessiz tepkiler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Yüz mimikleriyle mesaj verme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Sorun varsa açıkça ve doğru yerde dile getirilir.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Boş boş gezmek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Oyalandığı izlenimi vermek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Gereksiz hareketlerle zaman harcamak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Her an yapılacak bir iş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Her garson kendi alanını sahiplenir.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"Orası benim alanım değil" yaklaşımı yoktur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herkesindir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İhtiyaç olan yerde destek olunur.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Mutfak ve bar: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Tartışma alanı değildir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Emir verilen yer değildir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İletişim saygılı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Yoğunluk: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Ses yükseltme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Koşturma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Panik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sebebi değildir.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Kontrollü çalışan garson, yoğunluğu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Uyarı yapılmaz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Tartışılmaz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Rol kesilmez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Tüm ekip tek vücut gibi görünmelidir.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Kişisel problemler: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Yüz ifadelerine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Tavırlara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Konuşmalara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yansıtılamaz.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Rahatlama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Dağılma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Tempo düşürme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Aynı hatanın sürekli yapılması: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Dikkatsizliktir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Umursamazlıktır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İyi bir garson: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Uyarı beklemez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Kendini kontrol eder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Eksiklerini fark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Vardiya boyunca: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Fiziksel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OLARAK HAZIR OLMAK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Gereksiz şaka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Aşırı samimiyet</a:t>
            </a:r>
          </a:p>
          <a:p>
            <a:pPr algn="ctr">
              <a:spcBef>
                <a:spcPts val="1000"/>
              </a:spcBef>
              <a:defRPr b="1" sz="20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00584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Herkes kendi görev tanımı içinde hareket eder.</a:t>
            </a:r>
          </a:p>
          <a:p>
            <a:pPr>
              <a:spcAft>
                <a:spcPts val="900"/>
              </a:spcAft>
              <a:defRPr sz="1800" i="1">
                <a:solidFill>
                  <a:srgbClr val="2C3E50"/>
                </a:solidFill>
                <a:latin typeface="Calibri"/>
              </a:defRPr>
            </a:pPr>
            <a:r>
              <a:t>Yetki aşımı yapılamaz.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b="1" sz="2200">
                <a:solidFill>
                  <a:srgbClr val="2C3E50"/>
                </a:solidFill>
                <a:latin typeface="Calibri"/>
              </a:defRPr>
            </a:pPr>
            <a:r>
              <a:t>Herkesin ortak amacı: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Düzgün servis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Hatasız operasyon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Servis kalitesinin ölçülmesi için: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İsim verilerek selamlanmalıdır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Servis sahiplenilmelidir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 görmezden gelinemez</a:t>
            </a:r>
          </a:p>
          <a:p>
            <a:pPr>
              <a:spcAft>
                <a:spcPts val="600"/>
              </a:spcAft>
              <a:defRPr sz="1200" i="1">
                <a:solidFill>
                  <a:srgbClr val="3C3C3C"/>
                </a:solidFill>
                <a:latin typeface="Calibri"/>
              </a:defRPr>
            </a:pPr>
            <a:r>
              <a:t>“ Merhaba, ben Ahmet. Servisinizle ben ilgileneceğim.” ”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QR Talebi ve Zamanlama: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Servis bitimi beklenir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Sohbet bölünmez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Baskı kurulmaz</a:t>
            </a:r>
          </a:p>
          <a:p>
            <a:pPr>
              <a:spcAft>
                <a:spcPts val="600"/>
              </a:spcAft>
              <a:defRPr sz="1200" i="1">
                <a:solidFill>
                  <a:srgbClr val="3C3C3C"/>
                </a:solidFill>
                <a:latin typeface="Calibri"/>
              </a:defRPr>
            </a:pPr>
            <a:r>
              <a:t>“ Sizleri ağırlamak bir keyifti. Hizmet kalitemiz hakkındaki olumlu geri bildirimleriniz, ekibimiz için motivasyon kaynağı olacaktır.” ”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İletişim ve Tavır: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Göz teması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Nötr ve nazik yüz ifadesi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Profesyonel mesafe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SAVUNMA, IMA VE GEREKSIZ MIZAH KABUL EDILEMEZ.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Misafir şikayeti veya olumsuz geri bildirim durumunda: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İlgili yöneticiye anında haber verilir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Personel kendi başına karar almaz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Kişisel çözüm sürecine girilmez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YÖNETICI BILGILENDIRMESI ZORUNLUDUR.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İnisiyatif ve Esneklik: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Misafirin mutlu ayrılması esastır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Operasyonel kurallar yönetici kontrolünde esnetilebilir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Bilgilendirme Yükümlülüğü: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Sunulan çözüm, "istisnai bir durum" olduğu vurgulanarak misafire aktarılır.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Örnek Diyalog:</a:t>
            </a:r>
          </a:p>
          <a:p>
            <a:pPr>
              <a:spcAft>
                <a:spcPts val="600"/>
              </a:spcAft>
              <a:defRPr sz="1200" i="1">
                <a:solidFill>
                  <a:srgbClr val="3C3C3C"/>
                </a:solidFill>
                <a:latin typeface="Calibri"/>
              </a:defRPr>
            </a:pPr>
            <a:r>
              <a:t>“ Normalde kahvaltı servisimiz 13:00'te sona ermektedir; ancak bugün mutfağımızla görüşerek size özel bir istisna sağladık. Keyifli bir deneyim dileriz. ”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Birbiriyle bağlantılı birimler aynı anda molaya çıkamaz.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Mola planlaması, operasyonel boşluk yaratmayacak şekilde yapılır.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Ekip içi koordinasyon mola öncesinde tamamlanır.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HIZMETIN SÜREKLILIĞI ESASTIR.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Bar / Bar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Aft>
                <a:spcPts val="48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Kasa / Vitrin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Aynı görev tanımına sahip veya birbirini yedeklemesi gereken bu birimlerin, aynı anda mola planlaması kabul edilemez.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Kritik Kural: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Mola saatlerinde bireysel istek değil, operasyonel ihtiyaç önceliklidir. Yönetici onayı ve birimler arası mutabakat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7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Servis güvenliği ve operasyonel hız için: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Ağırlık merkezde toplanmalıdır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Büyükten küçüğe doğru istifleme yapılmalıdır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Kırılma riski olan parçalar ayrıştırılmalıdır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Tepsi Dengesi: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Ağır ve büyük parçalar merkeze yerleştirilir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Bardaklar ve tabaklar kontrolsüz şekilde yığılamaz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Hatalı İstifleme: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Dengesi bozuk yükleme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Tabakların kaymasına neden olacak dizim</a:t>
            </a:r>
          </a:p>
          <a:p>
            <a:pPr algn="ctr">
              <a:spcBef>
                <a:spcPts val="600"/>
              </a:spcBef>
              <a:defRPr b="1" sz="12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Salonun canlılığı ve misafir konforu için: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Kapıdan giren her misafir anında fark edilmelidir.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Göz teması ve tebessüm ile "Hoş geldiniz" karşılaması yapılır.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Misafir, masaya yerleşene kadar eşlik edilir.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Müşteri kapıda bekletilemez, görmezden gelinemez.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İhtiyaç Hissetme (Proaktif Hizmet):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Misafir garsonu aramaz; garson misafiri izler.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Biten içecekler, azalan peçeteler ve boşalan tabaklar takip edilir.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Misafirin çevreye bakması veya el kaldırması "hizmet gecikmesi" olarak kabul edilir.</a:t>
            </a:r>
          </a:p>
          <a:p>
            <a:pPr>
              <a:spcBef>
                <a:spcPts val="1200"/>
              </a:spcBef>
              <a:defRPr b="1" sz="1400">
                <a:solidFill>
                  <a:srgbClr val="2C3E50"/>
                </a:solidFill>
                <a:latin typeface="Calibri"/>
              </a:defRPr>
            </a:pPr>
            <a:r>
              <a:t>Takip Esasları: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Boşalan bardağın yenilenmesi teklif edilir.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İhtiyaç duyulmadan peçete/servis desteği sağlanır.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Misafirle göz teması kurmak için salon sürekli taranır.</a:t>
            </a:r>
          </a:p>
          <a:p>
            <a:pPr>
              <a:spcAft>
                <a:spcPts val="600"/>
              </a:spcAft>
              <a:defRPr sz="1200" i="1">
                <a:solidFill>
                  <a:srgbClr val="2C3E50"/>
                </a:solidFill>
                <a:latin typeface="Calibri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Servis kalitesinin sürekliliği için: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Çatal-bıçak silme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Takım ve ekipman çekme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İstifleme ve düzenleme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işleri, servis yoğunluğu ve misafir trafiğine göre planlanır.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Öncelik Sıralaması: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Misafir her zaman hazırlık işlerinden önceliklidir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Salon boş bırakılarak arka plana odaklanılamaz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Yoğunluk anında büyük çaplı hazırlık işlerine girilmesi</a:t>
            </a:r>
          </a:p>
          <a:p>
            <a:pPr algn="ctr">
              <a:spcBef>
                <a:spcPts val="550"/>
              </a:spcBef>
              <a:defRPr b="1" sz="1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Zamanlama ve Uygulama: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Hazırlıklar servis öncesi veya sakin saatlerde tamamlanır.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Mutfaktan takım çekme ve silme işlemleri misafiri rahatsız etmeyecek şekilde sessizce yürütülür.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Eksikler, servis krize girmeden proaktif (önceden) olarak giderilir.</a:t>
            </a:r>
          </a:p>
          <a:p>
            <a:pPr algn="ctr">
              <a:spcBef>
                <a:spcPts val="550"/>
              </a:spcBef>
              <a:defRPr b="1" sz="1100">
                <a:solidFill>
                  <a:srgbClr val="C00000"/>
                </a:solidFill>
                <a:latin typeface="Calibri"/>
              </a:defRPr>
            </a:pPr>
            <a:r>
              <a:t>SERVIS ÖNCELIĞI ESASTIR.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9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Hızlı ve hatasız iş akışı için: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İletişim en az kelimeyle, en net şekilde kurulmalıdır.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Uzun açıklamalar yerine sonuç odaklı cümleler seçilir.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Mesaj, karşı tarafın işini aksatmayacak hızda aktarılır.</a:t>
            </a:r>
          </a:p>
          <a:p>
            <a:pPr>
              <a:spcAft>
                <a:spcPts val="550"/>
              </a:spcAft>
              <a:defRPr sz="1100" i="1">
                <a:solidFill>
                  <a:srgbClr val="3C3C3C"/>
                </a:solidFill>
                <a:latin typeface="Calibri"/>
              </a:defRPr>
            </a:pPr>
            <a:r>
              <a:t>“ 3 kelimeyle anlatılabilecek bir durum, gereksiz detaylarla uzatılamaz. ”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Uzun ve Karmaşık Anlatım: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Dinleyicinin odağını dağıtır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Diğer işlerin unutulmasına neden olur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Operasyonu yavaşlatır</a:t>
            </a:r>
          </a:p>
          <a:p>
            <a:pPr>
              <a:spcBef>
                <a:spcPts val="1100"/>
              </a:spcBef>
              <a:defRPr b="1" sz="1300">
                <a:solidFill>
                  <a:srgbClr val="2C3E50"/>
                </a:solidFill>
                <a:latin typeface="Calibri"/>
              </a:defRPr>
            </a:pPr>
            <a:r>
              <a:t>Anlatım Bozukluğu ve Karmaşa: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Olayı saptırmak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Konuyu dolandırmak</a:t>
            </a:r>
          </a:p>
          <a:p>
            <a:pPr>
              <a:spcAft>
                <a:spcPts val="550"/>
              </a:spcAft>
              <a:defRPr sz="1100" i="1">
                <a:solidFill>
                  <a:srgbClr val="2C3E50"/>
                </a:solidFill>
                <a:latin typeface="Calibri"/>
              </a:defRPr>
            </a:pPr>
            <a:r>
              <a:t>Gereksiz detaylara girmek</a:t>
            </a:r>
          </a:p>
          <a:p>
            <a:pPr algn="ctr">
              <a:spcBef>
                <a:spcPts val="550"/>
              </a:spcBef>
              <a:defRPr b="1" sz="11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 algn="ctr">
              <a:spcBef>
                <a:spcPts val="550"/>
              </a:spcBef>
              <a:defRPr b="1" sz="1100">
                <a:solidFill>
                  <a:srgbClr val="C00000"/>
                </a:solidFill>
                <a:latin typeface="Calibri"/>
              </a:defRPr>
            </a:pPr>
            <a:r>
              <a:t>HIZLI, DOĞRUDAN VE NET ILETIŞIM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F5F6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/>
          </a:p>
          <a:p>
            <a:pPr>
              <a:spcAft>
                <a:spcPts val="1000"/>
              </a:spcAft>
              <a:defRPr sz="2000" i="1">
                <a:solidFill>
                  <a:srgbClr val="2C3E50"/>
                </a:solidFill>
                <a:latin typeface="Calibri"/>
              </a:defRPr>
            </a:pPr>
            <a:r>
              <a:t>OTTOBITE’de çalışmak;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Aft>
                <a:spcPts val="64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ister.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Bu rehberde yer alan tüm maddeler uygulanmak zorundadır.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Ana Fikir: OTTOBITE çatısı altında hangi birimde olursak olalım, her birimiz markamızın yaşayan birer temsilcisiyiz. Temel değerimiz; birimler arası kusursuz bir uyum ve yüksek sorumluluk bilinciyle hareket ederek, misafirlerimize yalnızca bir hizmet değil, disiplin ve nezaketle örülmüş bir deneyim sunmaktır.</a:t>
            </a:r>
          </a:p>
          <a:p>
            <a:pPr>
              <a:spcAft>
                <a:spcPts val="800"/>
              </a:spcAft>
              <a:defRPr sz="1600" i="1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