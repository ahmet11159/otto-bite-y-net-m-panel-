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5600" b="1">
                <a:solidFill>
                  <a:srgbClr val="C0392B"/>
                </a:solidFill>
                <a:latin typeface="Arial"/>
              </a:defRPr>
            </a:pPr>
            <a:r>
              <a:t>OTTOBITE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3063240"/>
            <a:ext cx="2743200" cy="50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>
                <a:solidFill>
                  <a:srgbClr val="2C3E50"/>
                </a:solidFill>
                <a:latin typeface="Calibri Light"/>
              </a:defRPr>
            </a:pPr>
            <a:r>
              <a:t>Garson Davranışları ve İş Önceliği Rehberi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C0392B"/>
                </a:solidFill>
                <a:latin typeface="Arial"/>
              </a:defRPr>
            </a:pPr>
            <a:r>
              <a:t>OTTOBITE Garson Rehberi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3785615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740664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09728" bIns="109728" wrap="square"/>
          <a:lstStyle/>
          <a:p>
            <a:pPr algn="ctr"/>
          </a:p>
          <a:p>
            <a:pPr>
              <a:defRPr sz="1300" i="1">
                <a:solidFill>
                  <a:srgbClr val="3C3C3C"/>
                </a:solidFill>
                <a:latin typeface="Calibri"/>
              </a:defRPr>
            </a:pPr>
            <a:r>
              <a:t>Bu doküman, OTTOBITE salon servisinde görev alan tüm servis personelinin;</a:t>
            </a:r>
          </a:p>
          <a:p>
            <a:pPr>
              <a:spcBef>
                <a:spcPts val="600"/>
              </a:spcBef>
              <a:defRPr sz="1300" i="1">
                <a:solidFill>
                  <a:srgbClr val="3C3C3C"/>
                </a:solidFill>
                <a:latin typeface="Calibri"/>
              </a:defRPr>
            </a:pPr>
            <a:r>
              <a:t>Bu rehber okunmak için değil, uygulanmak için hazırlanmıştır.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03704"/>
            <a:ext cx="8229600" cy="4014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Garson Davranışları ve İş Önceliği Rehberi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Amaç: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Doğru davranış biçimini benimsemesi,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Yoğun servis anlarında doğru iş önceliğini kurabilmesi,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Salon düzenini ve misafir memnuniyetini koruyabilmesi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amacıyla hazırlanmıştır.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900">
                <a:solidFill>
                  <a:srgbClr val="969696"/>
                </a:solidFill>
                <a:latin typeface="Calibri"/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C0392B"/>
                </a:solidFill>
                <a:latin typeface="Arial"/>
              </a:defRPr>
            </a:pPr>
            <a:r>
              <a:t>1. Garsonluk Bilinci ve Temel Zihniyet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6254496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740664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09728" bIns="109728" wrap="square"/>
          <a:lstStyle/>
          <a:p>
            <a:pPr algn="ctr"/>
          </a:p>
          <a:p>
            <a:pPr>
              <a:defRPr sz="1300" i="1">
                <a:solidFill>
                  <a:srgbClr val="3C3C3C"/>
                </a:solidFill>
                <a:latin typeface="Calibri"/>
              </a:defRPr>
            </a:pPr>
            <a:r>
              <a:t>Garsonluk yalnızca sipariş almak değildir.</a:t>
            </a:r>
          </a:p>
          <a:p>
            <a:pPr>
              <a:spcBef>
                <a:spcPts val="600"/>
              </a:spcBef>
              <a:defRPr sz="1300" i="1">
                <a:solidFill>
                  <a:srgbClr val="3C3C3C"/>
                </a:solidFill>
                <a:latin typeface="Calibri"/>
              </a:defRPr>
            </a:pPr>
            <a:r>
              <a:t>Garson, salonun temposunu, misafirin ruh halini ve servisin akışını yönetir.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03704"/>
            <a:ext cx="8229600" cy="4014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Misafir, işletmeyi;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Garsonun bakışından,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Konuşma tarzından,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Salondaki duruşundan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anlar ve değerlendirir.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OTTOBITE'de garson: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Göz önündedir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Dikkatlidir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Sorumluluk sahibidir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900">
                <a:solidFill>
                  <a:srgbClr val="969696"/>
                </a:solidFill>
                <a:latin typeface="Calibri"/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C0392B"/>
                </a:solidFill>
                <a:latin typeface="Arial"/>
              </a:defRPr>
            </a:pPr>
            <a:r>
              <a:t>1. Garsonluk Bilinci ve Temel Zihniyet (Devam)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7571231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484632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09728" bIns="109728" wrap="square"/>
          <a:lstStyle/>
          <a:p>
            <a:pPr algn="ctr"/>
          </a:p>
          <a:p>
            <a:pPr>
              <a:defRPr sz="1300" i="1">
                <a:solidFill>
                  <a:srgbClr val="3C3C3C"/>
                </a:solidFill>
                <a:latin typeface="Calibri"/>
              </a:defRPr>
            </a:pPr>
            <a:r>
              <a:t>Şu unutulmamalıdır: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47672"/>
            <a:ext cx="8229600" cy="4270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Garsonun davranışı, işletmenin kalitesini temsil eder.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900">
                <a:solidFill>
                  <a:srgbClr val="969696"/>
                </a:solidFill>
                <a:latin typeface="Calibri"/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C0392B"/>
                </a:solidFill>
                <a:latin typeface="Arial"/>
              </a:defRPr>
            </a:pPr>
            <a:r>
              <a:t>2. Temel Garson Davranış Kuralları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5596128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996696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09728" bIns="109728" wrap="square"/>
          <a:lstStyle/>
          <a:p>
            <a:pPr algn="ctr"/>
          </a:p>
          <a:p>
            <a:pPr>
              <a:defRPr sz="1300" i="1">
                <a:solidFill>
                  <a:srgbClr val="3C3C3C"/>
                </a:solidFill>
                <a:latin typeface="Calibri"/>
              </a:defRPr>
            </a:pPr>
            <a:r>
              <a:t>Bu bölümde yer alan kurallar tartışmaya açık değildir.</a:t>
            </a:r>
          </a:p>
          <a:p>
            <a:pPr>
              <a:spcBef>
                <a:spcPts val="600"/>
              </a:spcBef>
              <a:defRPr sz="1300" i="1">
                <a:solidFill>
                  <a:srgbClr val="3C3C3C"/>
                </a:solidFill>
                <a:latin typeface="Calibri"/>
              </a:defRPr>
            </a:pPr>
            <a:r>
              <a:t>Tüm servis personeli tarafından eksiksiz uygulanır.</a:t>
            </a:r>
          </a:p>
          <a:p>
            <a:pPr>
              <a:spcBef>
                <a:spcPts val="600"/>
              </a:spcBef>
              <a:defRPr sz="1300" i="1">
                <a:solidFill>
                  <a:srgbClr val="3C3C3C"/>
                </a:solidFill>
                <a:latin typeface="Calibri"/>
              </a:defRPr>
            </a:pPr>
            <a:r>
              <a:t>“Her an çağrılabilirim” bilinciyle hareket eder.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59736"/>
            <a:ext cx="8229600" cy="37581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Duruş ve Salon İçindeki Tavır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Garson salonda dik ve hazır durur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El cepte gezilmez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Kollar bağlı şekilde durulmaz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Duvara yaslanılmaz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Boş boş ayakta beklenmez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Garson salondayken: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Masaya Yaklaşma ve İletişim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900">
                <a:solidFill>
                  <a:srgbClr val="969696"/>
                </a:solidFill>
                <a:latin typeface="Calibri"/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C0392B"/>
                </a:solidFill>
                <a:latin typeface="Arial"/>
              </a:defRPr>
            </a:pPr>
            <a:r>
              <a:t>2. Temel Garson Davranış Kuralları (Devam)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6912864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484632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09728" bIns="109728" wrap="square"/>
          <a:lstStyle/>
          <a:p>
            <a:pPr algn="ctr"/>
          </a:p>
          <a:p>
            <a:pPr>
              <a:defRPr sz="1300" i="1">
                <a:solidFill>
                  <a:srgbClr val="3C3C3C"/>
                </a:solidFill>
                <a:latin typeface="Calibri"/>
              </a:defRPr>
            </a:pPr>
            <a:r>
              <a:t>Ton sakin, net ve kontrollü olmalıdır.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47672"/>
            <a:ext cx="8229600" cy="4270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Masaya yaklaşırken göz teması kurulur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Masaya sırt dönülerek konuşulmaz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Misafirin yüzüne bakmadan sipariş alınmaz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Kullanılmaması gereken ifadeler: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“Bir saniye”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“Dur bakayım”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“Yoğunum”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Kullanılması gereken yaklaşım: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“Hemen ilgileniyorum”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“Şimdi yardımcı oluyorum”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Salon İçinde Davranış Disiplini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900">
                <a:solidFill>
                  <a:srgbClr val="969696"/>
                </a:solidFill>
                <a:latin typeface="Calibri"/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C0392B"/>
                </a:solidFill>
                <a:latin typeface="Arial"/>
              </a:defRPr>
            </a:pPr>
            <a:r>
              <a:t>2. Temel Garson Davranış Kuralları (Devam)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6912864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Personel kendi arasında yüksek sesle konuşmaz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Gülüşmeler misafir dikkatini çekecek seviyede olmaz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Telefon kesinlikle kullanılmaz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Şef salondayken: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Garson görünür olur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Kaçmaz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Saklanmaz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900">
                <a:solidFill>
                  <a:srgbClr val="969696"/>
                </a:solidFill>
                <a:latin typeface="Calibri"/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C0392B"/>
                </a:solidFill>
                <a:latin typeface="Arial"/>
              </a:defRPr>
            </a:pPr>
            <a:r>
              <a:t>3. Yoğun Serviste Garsonun Düşünme Şekli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6583679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252728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09728" bIns="109728" wrap="square"/>
          <a:lstStyle/>
          <a:p>
            <a:pPr algn="ctr"/>
          </a:p>
          <a:p>
            <a:pPr>
              <a:defRPr sz="1300" i="1">
                <a:solidFill>
                  <a:srgbClr val="3C3C3C"/>
                </a:solidFill>
                <a:latin typeface="Calibri"/>
              </a:defRPr>
            </a:pPr>
            <a:r>
              <a:t>Bu bölüm, servis kalitesini doğrudan belirler.</a:t>
            </a:r>
          </a:p>
          <a:p>
            <a:pPr>
              <a:spcBef>
                <a:spcPts val="600"/>
              </a:spcBef>
              <a:defRPr sz="1300" i="1">
                <a:solidFill>
                  <a:srgbClr val="3C3C3C"/>
                </a:solidFill>
                <a:latin typeface="Calibri"/>
              </a:defRPr>
            </a:pPr>
            <a:r>
              <a:t>Yoğunlukta hızlı olmak değil, doğru öncelik vermek önemlidir.</a:t>
            </a:r>
          </a:p>
          <a:p>
            <a:pPr>
              <a:spcBef>
                <a:spcPts val="600"/>
              </a:spcBef>
              <a:defRPr sz="1300" i="1">
                <a:solidFill>
                  <a:srgbClr val="3C3C3C"/>
                </a:solidFill>
                <a:latin typeface="Calibri"/>
              </a:defRPr>
            </a:pPr>
            <a:r>
              <a:t>Panik, hatayı artırır.</a:t>
            </a:r>
          </a:p>
          <a:p>
            <a:pPr>
              <a:spcBef>
                <a:spcPts val="600"/>
              </a:spcBef>
              <a:defRPr sz="1300" i="1">
                <a:solidFill>
                  <a:srgbClr val="3C3C3C"/>
                </a:solidFill>
                <a:latin typeface="Calibri"/>
              </a:defRPr>
            </a:pPr>
            <a:r>
              <a:t>Öncelik, düzeni sağlar.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15768"/>
            <a:ext cx="8229600" cy="3502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Doğru İş Önceliği Sıralaması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OTTOBITE servisinde garson şu sırayı bilmelidir: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Yeni gelen misafir / boş masa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Sipariş vermek isteyen masa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Servisi çıkan masa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Hesap isteyen masa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Diğer işler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900">
                <a:solidFill>
                  <a:srgbClr val="969696"/>
                </a:solidFill>
                <a:latin typeface="Calibri"/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C0392B"/>
                </a:solidFill>
                <a:latin typeface="Arial"/>
              </a:defRPr>
            </a:pPr>
            <a:r>
              <a:t>3. Yoğun Serviste Garsonun Düşünme Şekli (Devam)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7900416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Bu sıralama yoğunlukta değişmez.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Her servis türü;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Dikkat,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Düzen,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Misafirle doğru iletişim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gerektirir.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Garson servis türüne göre zihinsel olarak hazırlanmalı ve her servisi aynı profesyonellikle yürütmelidir.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Aynı Anda Her Şey Yapılmaz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Aynı anda 5 masaya yetişmeye çalışılmaz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Bir işi yarım bırakıp diğerine geçilmez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Yapılan iş tamamlanır, sonra diğerine geçilir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Şef yönlendirmesi her zaman önceliklidir.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900">
                <a:solidFill>
                  <a:srgbClr val="969696"/>
                </a:solidFill>
                <a:latin typeface="Calibri"/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C0392B"/>
                </a:solidFill>
                <a:latin typeface="Arial"/>
              </a:defRPr>
            </a:pPr>
            <a:r>
              <a:t>4. Yoğun Serviste Yapılmaması Gereken Davranışlar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065008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Aşağıdaki davranışlar servis kalitesini düşürür ve kabul edilmez: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“Ben o masaya bakmıyorum” demek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Masayı görmezden gelmek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Mutfaktan veya salondan kaçmak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Şefe savunma yapmak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Misafir önünde tartışmak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Bu davranışlar OTTOBITE servis anlayışına uygun değildir.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900">
                <a:solidFill>
                  <a:srgbClr val="969696"/>
                </a:solidFill>
                <a:latin typeface="Calibri"/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C0392B"/>
                </a:solidFill>
                <a:latin typeface="Arial"/>
              </a:defRPr>
            </a:pPr>
            <a:r>
              <a:t>5. Garson – Salon Şefi İlişkisi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5102352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Salon şefi, servisin düzeninden sorumludur.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Garson şunu bilmelidir: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Şef uyarısı kişisel değildir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Şef yönlendirmesi tartışılmaz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Servis sırasında savunma yapılmaz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Servis anında uygulama yapılır, değerlendirme servis sonrası yapılır.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900">
                <a:solidFill>
                  <a:srgbClr val="969696"/>
                </a:solidFill>
                <a:latin typeface="Calibri"/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C0392B"/>
                </a:solidFill>
                <a:latin typeface="Arial"/>
              </a:defRPr>
            </a:pPr>
            <a:r>
              <a:t>7. Açılış ve Kapanış Disiplini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4937759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800"/>
              </a:spcBef>
              <a:spcAft>
                <a:spcPts val="600"/>
              </a:spcAft>
              <a:defRPr b="1" sz="1400">
                <a:solidFill>
                  <a:srgbClr val="B40000"/>
                </a:solidFill>
                <a:latin typeface="Calibri"/>
              </a:defRPr>
            </a:pPr>
            <a:r>
              <a:t>AÇILIŞ VE KAPANIŞ SAATLERINDE UYUŞUKLUK KABUL EDILEMEZ.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Yavaş hareket etmek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Eğlence modunda çalışmak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Sürekli sohbet halinde olmak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0.5x hızla iş yapmak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b="1" sz="1400">
                <a:solidFill>
                  <a:srgbClr val="B40000"/>
                </a:solidFill>
                <a:latin typeface="Calibri"/>
              </a:defRPr>
            </a:pPr>
            <a:r>
              <a:t>KABUL EDILEMEZ DAVRANIŞLARDIR.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Açılış ve kapanış: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Dikkat ister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Odak ister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Disiplin ister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Açılış ve kapanış ne kadar düzgün yapılırsa, vardiya o kadar rahat geçer.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900">
                <a:solidFill>
                  <a:srgbClr val="969696"/>
                </a:solidFill>
                <a:latin typeface="Calibri"/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C0392B"/>
                </a:solidFill>
                <a:latin typeface="Arial"/>
              </a:defRPr>
            </a:pPr>
            <a:r>
              <a:t>8. İş Hızı ve İş Önceliği Bilinci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5431536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Bir garson şunu bilmelidir: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3 dakikalık bir iş 15 dakikaya uzatılamaz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Yavaşlık beceri değildir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Odağın dağılması iş aksatır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Kendi postasında yapacağı 4 basit işi;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Sohbet ederek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Etrafla ilgilenerek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Önceliği yanlış belirleyerek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b="1" sz="1400">
                <a:solidFill>
                  <a:srgbClr val="B40000"/>
                </a:solidFill>
                <a:latin typeface="Calibri"/>
              </a:defRPr>
            </a:pPr>
            <a:r>
              <a:t>UZATMAK KABUL EDILEMEZ.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İşte olduğunu bilmek ve buna göre davranmak zorunluluktur.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900">
                <a:solidFill>
                  <a:srgbClr val="969696"/>
                </a:solidFill>
                <a:latin typeface="Calibri"/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C0392B"/>
                </a:solidFill>
                <a:latin typeface="Arial"/>
              </a:defRPr>
            </a:pPr>
            <a:r>
              <a:t>9. İş Esnasında Tutum ve Beden Dili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5760720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Servis sırasında: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Sürekli şikâyet etmek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Yakınmak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Uflamak, puflamak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Yüz mimikleriyle ima yapmak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b="1" sz="1400">
                <a:solidFill>
                  <a:srgbClr val="B40000"/>
                </a:solidFill>
                <a:latin typeface="Calibri"/>
              </a:defRPr>
            </a:pPr>
            <a:r>
              <a:t>KESINLIKLE KABUL EDILEMEZ.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Garsonun yüz ifadesi ve beden dili;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Misafire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Takım arkadaşlarına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Operasyona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olumsuz yansır.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900">
                <a:solidFill>
                  <a:srgbClr val="969696"/>
                </a:solidFill>
                <a:latin typeface="Calibri"/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C0392B"/>
                </a:solidFill>
                <a:latin typeface="Arial"/>
              </a:defRPr>
            </a:pPr>
            <a:r>
              <a:t>10. Gruplaşma, Dedikodu ve İletişim Sorunları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7406640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Gruplaşma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Dedikodu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Kulis yapmak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OTTOBITE çalışma düzenine aykırıdır.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Farklı departman şefleriyle veya personelleriyle: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Tartışmaya girmek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Münakaşa yaşamak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b="1" sz="1400">
                <a:solidFill>
                  <a:srgbClr val="B4000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Sorunlar servis dışında ve doğru kanallarla (Herhangi bir departmandan birisiyle bir sorun yaşandıysa, kişisel değil o departmanın şefiyle iletişime geçilmelidir.) iletilir.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900">
                <a:solidFill>
                  <a:srgbClr val="969696"/>
                </a:solidFill>
                <a:latin typeface="Calibri"/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C0392B"/>
                </a:solidFill>
                <a:latin typeface="Arial"/>
              </a:defRPr>
            </a:pPr>
            <a:r>
              <a:t>11. Kurallara Uyum ve Profesyonel Davranış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6912864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Yönetim tarafından belirlenen kuralları: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Esnetmek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Suistimal etmek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Kendi lehine yorumlamak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b="1" sz="1400">
                <a:solidFill>
                  <a:srgbClr val="B4000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Herkes: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İş esnasında uyumlu olmak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Kendi görevini en iyi şekilde yapmak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zorundadır.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900">
                <a:solidFill>
                  <a:srgbClr val="969696"/>
                </a:solidFill>
                <a:latin typeface="Calibri"/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C0392B"/>
                </a:solidFill>
                <a:latin typeface="Arial"/>
              </a:defRPr>
            </a:pPr>
            <a:r>
              <a:t>12. Molalar ve Görev Takibi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4443983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Hiçbir personel başka bir personelin molasını takip etmez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Molalar yönetim tarafından düzenlenir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Bu konuda bireysel kontrol veya yorum yapılmaz.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900">
                <a:solidFill>
                  <a:srgbClr val="969696"/>
                </a:solidFill>
                <a:latin typeface="Calibri"/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C0392B"/>
                </a:solidFill>
                <a:latin typeface="Arial"/>
              </a:defRPr>
            </a:pPr>
            <a:r>
              <a:t>13. Posta Yönetimi ve Masa Kontrolü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5760720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Garson kendi postasındaki masalardan tamamen sorumludur.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Sürekli uyarılan durumlar: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Toplanmamış peçeteler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Islak mendil çöpleri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Şişe boşları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Değiştirilmemiş kül tablaları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Masa üzerindeki müşteri çöpleri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İyi bir garson kendi postasındaki 5 masayı eksiksiz yönetir.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b="1" sz="1400">
                <a:solidFill>
                  <a:srgbClr val="B40000"/>
                </a:solidFill>
                <a:latin typeface="Calibri"/>
              </a:defRPr>
            </a:pPr>
            <a:r>
              <a:t>SÜREKLI UYARI GEREKTIREN ÇALIŞMA KABUL EDILEMEZ.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900">
                <a:solidFill>
                  <a:srgbClr val="969696"/>
                </a:solidFill>
                <a:latin typeface="Calibri"/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C0392B"/>
                </a:solidFill>
                <a:latin typeface="Arial"/>
              </a:defRPr>
            </a:pPr>
            <a:r>
              <a:t>14. Kişisel Görünüm ve Kıyafet Disiplini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6583679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Bayan personel saçını açık kullanamaz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İş kıyafeti ne ise o giyilir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Kıyafet dışında kişisel yorum yapılmaz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Görünüm işletmenin ciddiyetini yansıtır.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900">
                <a:solidFill>
                  <a:srgbClr val="969696"/>
                </a:solidFill>
                <a:latin typeface="Calibri"/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C0392B"/>
                </a:solidFill>
                <a:latin typeface="Arial"/>
              </a:defRPr>
            </a:pPr>
            <a:r>
              <a:t>15. İletişim Bilinci (EN ÖNEMLİ KONU)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6089904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OTTOBITE servisinin en önemli unsuru iletişimdir.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Servisin hatasız ilerlemesi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Posta kontrolü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Yoğunluk yönetimi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ancak doğru iletişimle sağlanır.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Posta terk edilecekse: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Takım arkadaşları bilgilendirilir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Şef haberdar edilir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Habersiz posta terk edilemez.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900">
                <a:solidFill>
                  <a:srgbClr val="969696"/>
                </a:solidFill>
                <a:latin typeface="Calibri"/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C0392B"/>
                </a:solidFill>
                <a:latin typeface="Arial"/>
              </a:defRPr>
            </a:pPr>
            <a:r>
              <a:t>16. Hiyerarşi ve Saygı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3621024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Hiçbir personel başka bir personele üstü gibi davranamaz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Yetki yalnızca görev tanımıyla sınırlıdır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Saygı karşılıklıdır ve herkes için geçerlidir.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900">
                <a:solidFill>
                  <a:srgbClr val="969696"/>
                </a:solidFill>
                <a:latin typeface="Calibri"/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C0392B"/>
                </a:solidFill>
                <a:latin typeface="Arial"/>
              </a:defRPr>
            </a:pPr>
            <a:r>
              <a:t>17. İşe Zamanında Gelme Disiplini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5431536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İşe geç kalmak;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Operasyonu aksatır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Takım arkadaşlarını zor durumda bırakır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Servis düzenini bozar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Geç kalmak bir alışkanlık hâline gelemez.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Her personel vardiyasına: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Zamanında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Hazır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İşe odaklanmış şekilde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başlamak zorundadır.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900">
                <a:solidFill>
                  <a:srgbClr val="969696"/>
                </a:solidFill>
                <a:latin typeface="Calibri"/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C0392B"/>
                </a:solidFill>
                <a:latin typeface="Arial"/>
              </a:defRPr>
            </a:pPr>
            <a:r>
              <a:t>18. Masa Kalkış Sonrası Temizlik Bilinci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6583679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Misafir kalktığında yalnızca masa üstü değil;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Masa altı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Sandalyeler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Genel düzen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kontrol edilir.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Masa altına faraş atılmadan yeni misafir alınmaz.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Temizlenmeyen masa, yarım yapılmış iştir.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900">
                <a:solidFill>
                  <a:srgbClr val="969696"/>
                </a:solidFill>
                <a:latin typeface="Calibri"/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C0392B"/>
                </a:solidFill>
                <a:latin typeface="Arial"/>
              </a:defRPr>
            </a:pPr>
            <a:r>
              <a:t>19. Yardımlaşma ve Takım Bilinci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5266944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Servis bireysel değil, ekip işidir.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Kendi postasında işi olan garson çalışır, diğer postadaki garson müsaitse destek verir.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Eğer: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Senin aklında 5 iş varsa diğer posta boş duruyorsa yardım istemek zorunluluktur.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900">
                <a:solidFill>
                  <a:srgbClr val="969696"/>
                </a:solidFill>
                <a:latin typeface="Calibri"/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C0392B"/>
                </a:solidFill>
                <a:latin typeface="Arial"/>
              </a:defRPr>
            </a:pPr>
            <a:r>
              <a:t>20. İletişimde Esneklik ve Açıklık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5596128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Servisin aksamaması için: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Herkes birbirine konuşabilmelidir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Kimse bir şey söylemeye çekinmemelidir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Bir personel, başka bir personele bir şey demeye çekinirse iş aksar.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İletişimde: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Esneklik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Açıklık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Netlik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b="1" sz="1400">
                <a:solidFill>
                  <a:srgbClr val="B40000"/>
                </a:solidFill>
                <a:latin typeface="Calibri"/>
              </a:defRPr>
            </a:pPr>
            <a:r>
              <a:t>ZORUNLUDUR.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900">
                <a:solidFill>
                  <a:srgbClr val="969696"/>
                </a:solidFill>
                <a:latin typeface="Calibri"/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C0392B"/>
                </a:solidFill>
                <a:latin typeface="Arial"/>
              </a:defRPr>
            </a:pPr>
            <a:r>
              <a:t>21. Sessiz Tepki ve İma Yasağı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4937759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İmalı konuşmalar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Sessiz tepkiler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Yüz mimikleriyle mesaj verme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b="1" sz="1400">
                <a:solidFill>
                  <a:srgbClr val="B4000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Sorun varsa açıkça ve doğru yerde dile getirilir.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900">
                <a:solidFill>
                  <a:srgbClr val="969696"/>
                </a:solidFill>
                <a:latin typeface="Calibri"/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C0392B"/>
                </a:solidFill>
                <a:latin typeface="Arial"/>
              </a:defRPr>
            </a:pPr>
            <a:r>
              <a:t>22. Boş Durma ve Oyalama Yasağı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5102352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Servis sırasında: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Boş boş gezmek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Oyalandığı izlenimi vermek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Gereksiz hareketlerle zaman harcamak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b="1" sz="1400">
                <a:solidFill>
                  <a:srgbClr val="B4000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Her an yapılacak bir iş vardır.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900">
                <a:solidFill>
                  <a:srgbClr val="969696"/>
                </a:solidFill>
                <a:latin typeface="Calibri"/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C0392B"/>
                </a:solidFill>
                <a:latin typeface="Arial"/>
              </a:defRPr>
            </a:pPr>
            <a:r>
              <a:t>23. Alan Sahiplenme Bilinci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4443983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Her garson kendi alanını sahiplenir.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"Orası benim alanım değil" yaklaşımı yoktur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Salon herkesindir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İhtiyaç olan yerde destek olunur.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900">
                <a:solidFill>
                  <a:srgbClr val="969696"/>
                </a:solidFill>
                <a:latin typeface="Calibri"/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C0392B"/>
                </a:solidFill>
                <a:latin typeface="Arial"/>
              </a:defRPr>
            </a:pPr>
            <a:r>
              <a:t>24. Mutfak ve Bar ile İletişim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4937759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Mutfak ve bar: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Tartışma alanı değildir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Emir verilen yer değildir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İletişim saygılı ve net olmalıdır.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900">
                <a:solidFill>
                  <a:srgbClr val="969696"/>
                </a:solidFill>
                <a:latin typeface="Calibri"/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C0392B"/>
                </a:solidFill>
                <a:latin typeface="Arial"/>
              </a:defRPr>
            </a:pPr>
            <a:r>
              <a:t>25. Yoğunlukta Sessiz ve Kontrollü Çalışma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6912864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Yoğunluk: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Ses yükseltme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Koşturma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Panik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sebebi değildir.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Kontrollü çalışan garson, yoğunluğu yönetir.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900">
                <a:solidFill>
                  <a:srgbClr val="969696"/>
                </a:solidFill>
                <a:latin typeface="Calibri"/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C0392B"/>
                </a:solidFill>
                <a:latin typeface="Arial"/>
              </a:defRPr>
            </a:pPr>
            <a:r>
              <a:t>26. Misafir Önünde Ekip Disiplini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5431536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Misafir önünde: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Uyarı yapılmaz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Tartışılmaz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Rol kesilmez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Tüm ekip tek vücut gibi görünmelidir.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900">
                <a:solidFill>
                  <a:srgbClr val="969696"/>
                </a:solidFill>
                <a:latin typeface="Calibri"/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C0392B"/>
                </a:solidFill>
                <a:latin typeface="Arial"/>
              </a:defRPr>
            </a:pPr>
            <a:r>
              <a:t>27. Kişisel Sorunları İşe Yansıtmama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5925312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Kişisel problemler: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Yüz ifadelerine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Tavırlara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Konuşmalara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yansıtılamaz.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900">
                <a:solidFill>
                  <a:srgbClr val="969696"/>
                </a:solidFill>
                <a:latin typeface="Calibri"/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C0392B"/>
                </a:solidFill>
                <a:latin typeface="Arial"/>
              </a:defRPr>
            </a:pPr>
            <a:r>
              <a:t>28. İş Bitmeden Rahatlama Yasağı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5266944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İş bitmeden: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Rahatlama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Dağılma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Tempo düşürme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b="1" sz="1400">
                <a:solidFill>
                  <a:srgbClr val="B40000"/>
                </a:solidFill>
                <a:latin typeface="Calibri"/>
              </a:defRPr>
            </a:pPr>
            <a:r>
              <a:t>KABUL EDILEMEZ.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900">
                <a:solidFill>
                  <a:srgbClr val="969696"/>
                </a:solidFill>
                <a:latin typeface="Calibri"/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C0392B"/>
                </a:solidFill>
                <a:latin typeface="Arial"/>
              </a:defRPr>
            </a:pPr>
            <a:r>
              <a:t>29. Tekrar Eden Hatalar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3785615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Aynı hatanın sürekli yapılması: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Dikkatsizliktir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Umursamazlıktır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b="1" sz="1400">
                <a:solidFill>
                  <a:srgbClr val="B40000"/>
                </a:solidFill>
                <a:latin typeface="Calibri"/>
              </a:defRPr>
            </a:pPr>
            <a:r>
              <a:t>KABUL EDILEMEZ.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900">
                <a:solidFill>
                  <a:srgbClr val="969696"/>
                </a:solidFill>
                <a:latin typeface="Calibri"/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C0392B"/>
                </a:solidFill>
                <a:latin typeface="Arial"/>
              </a:defRPr>
            </a:pPr>
            <a:r>
              <a:t>30. Kendi Kendini Kontrol Etme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4937759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İyi bir garson: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Uyarı beklemez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Kendini kontrol eder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Eksiklerini fark eder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900">
                <a:solidFill>
                  <a:srgbClr val="969696"/>
                </a:solidFill>
                <a:latin typeface="Calibri"/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C0392B"/>
                </a:solidFill>
                <a:latin typeface="Arial"/>
              </a:defRPr>
            </a:pPr>
            <a:r>
              <a:t>31. Vardiya Boyunca Hazır Olma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4937759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Vardiya boyunca: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Zihinsel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Fiziksel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b="1" sz="1400">
                <a:solidFill>
                  <a:srgbClr val="B40000"/>
                </a:solidFill>
                <a:latin typeface="Calibri"/>
              </a:defRPr>
            </a:pPr>
            <a:r>
              <a:t>OLARAK HAZIR OLMAK ZORUNLUDUR.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900">
                <a:solidFill>
                  <a:srgbClr val="969696"/>
                </a:solidFill>
                <a:latin typeface="Calibri"/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C0392B"/>
                </a:solidFill>
                <a:latin typeface="Arial"/>
              </a:defRPr>
            </a:pPr>
            <a:r>
              <a:t>32. Gereksiz Yorum ve Mizah Yasağı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5596128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Servis sırasında: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Gereksiz şaka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Aşırı samimiyet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b="1" sz="1400">
                <a:solidFill>
                  <a:srgbClr val="B40000"/>
                </a:solidFill>
                <a:latin typeface="Calibri"/>
              </a:defRPr>
            </a:pPr>
            <a:r>
              <a:t>KABUL EDILEMEZ.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900">
                <a:solidFill>
                  <a:srgbClr val="969696"/>
                </a:solidFill>
                <a:latin typeface="Calibri"/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C0392B"/>
                </a:solidFill>
                <a:latin typeface="Arial"/>
              </a:defRPr>
            </a:pPr>
            <a:r>
              <a:t>33. Görev Tanımına Sadakat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4279392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Herkes kendi görev tanımı içinde hareket eder.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Yetki aşımı yapılamaz.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900">
                <a:solidFill>
                  <a:srgbClr val="969696"/>
                </a:solidFill>
                <a:latin typeface="Calibri"/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C0392B"/>
                </a:solidFill>
                <a:latin typeface="Arial"/>
              </a:defRPr>
            </a:pPr>
            <a:r>
              <a:t>34. Ortak Amaç Bilinci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3621024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Herkesin ortak amacı: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Düzgün servis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Hatasız operasyon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Memnun misafir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Olmalıdır.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900">
                <a:solidFill>
                  <a:srgbClr val="969696"/>
                </a:solidFill>
                <a:latin typeface="Calibri"/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C0392B"/>
                </a:solidFill>
                <a:latin typeface="Arial"/>
              </a:defRPr>
            </a:pPr>
            <a:r>
              <a:t>35. QR Değerlendirme ve Misafir Geri Bildirimi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7571231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996696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09728" bIns="109728" wrap="square"/>
          <a:lstStyle/>
          <a:p>
            <a:pPr algn="ctr"/>
          </a:p>
          <a:p>
            <a:pPr>
              <a:defRPr sz="1300" i="1">
                <a:solidFill>
                  <a:srgbClr val="3C3C3C"/>
                </a:solidFill>
                <a:latin typeface="Calibri"/>
              </a:defRPr>
            </a:pPr>
            <a:r>
              <a:t>“Merhaba, ben Ahmet. Servisinizle ben ilgileneceğim.”</a:t>
            </a:r>
          </a:p>
          <a:p>
            <a:pPr>
              <a:spcBef>
                <a:spcPts val="600"/>
              </a:spcBef>
              <a:defRPr sz="1300" i="1">
                <a:solidFill>
                  <a:srgbClr val="3C3C3C"/>
                </a:solidFill>
                <a:latin typeface="Calibri"/>
              </a:defRPr>
            </a:pPr>
            <a:r>
              <a:t>“Sizleri ağırlamak bir keyifti. Hizmet kalitemiz hakkındaki olumlu geri bildirimleriniz, ekibimiz için motivasyon kaynağı olacaktır.”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59736"/>
            <a:ext cx="8229600" cy="37581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Servis kalitesinin ölçülmesi için: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İsim verilerek selamlanmalıdır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Servis sahiplenilmelidir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Misafir görmezden gelinemez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QR Talebi ve Zamanlama: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Servis bitimi beklenir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Sohbet bölünmez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Baskı kurulmaz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900">
                <a:solidFill>
                  <a:srgbClr val="969696"/>
                </a:solidFill>
                <a:latin typeface="Calibri"/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C0392B"/>
                </a:solidFill>
                <a:latin typeface="Arial"/>
              </a:defRPr>
            </a:pPr>
            <a:r>
              <a:t>35. QR Değerlendirme ve Misafir Geri Bildirimi (Devam)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İletişim ve Tavır: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Göz teması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Nötr ve nazik yüz ifadesi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Profesyonel mesafe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b="1" sz="1400">
                <a:solidFill>
                  <a:srgbClr val="B40000"/>
                </a:solidFill>
                <a:latin typeface="Calibri"/>
              </a:defRPr>
            </a:pPr>
            <a:r>
              <a:t>ZORUNLUDUR.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b="1" sz="1400">
                <a:solidFill>
                  <a:srgbClr val="B40000"/>
                </a:solidFill>
                <a:latin typeface="Calibri"/>
              </a:defRPr>
            </a:pPr>
            <a:r>
              <a:t>SAVUNMA, IMA VE GEREKSIZ MIZAH KABUL EDILEMEZ.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Her garson, servisinin puanlanacağı bilinciyle hareket eder.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900">
                <a:solidFill>
                  <a:srgbClr val="969696"/>
                </a:solidFill>
                <a:latin typeface="Calibri"/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C0392B"/>
                </a:solidFill>
                <a:latin typeface="Arial"/>
              </a:defRPr>
            </a:pPr>
            <a:r>
              <a:t>36. Memnuniyetsizlik Yönetimi ve Çözüm Süreci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7406640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Misafir şikayeti veya olumsuz geri bildirim durumunda: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İlgili yöneticiye anında haber verilir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Personel kendi başına karar almaz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Kişisel çözüm sürecine girilmez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b="1" sz="1400">
                <a:solidFill>
                  <a:srgbClr val="B40000"/>
                </a:solidFill>
                <a:latin typeface="Calibri"/>
              </a:defRPr>
            </a:pPr>
            <a:r>
              <a:t>YÖNETICI BILGILENDIRMESI ZORUNLUDUR.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İnisiyatif ve Esneklik: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Misafirin mutlu ayrılması esastır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Operasyonel kurallar yönetici kontrolünde esnetilebilir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Bilgilendirme Yükümlülüğü: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Sunulan çözüm, "istisnai bir durum" olduğu vurgulanarak misafire aktarılır.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Örnek Diyalog: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900">
                <a:solidFill>
                  <a:srgbClr val="969696"/>
                </a:solidFill>
                <a:latin typeface="Calibri"/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C0392B"/>
                </a:solidFill>
                <a:latin typeface="Arial"/>
              </a:defRPr>
            </a:pPr>
            <a:r>
              <a:t>36. Memnuniyetsizlik Yönetimi ve Çözüm Süreci (Devam)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740664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09728" bIns="109728" wrap="square"/>
          <a:lstStyle/>
          <a:p>
            <a:pPr algn="ctr"/>
          </a:p>
          <a:p>
            <a:pPr>
              <a:defRPr sz="1300" i="1">
                <a:solidFill>
                  <a:srgbClr val="3C3C3C"/>
                </a:solidFill>
                <a:latin typeface="Calibri"/>
              </a:defRPr>
            </a:pPr>
            <a:r>
              <a:t>"Normalde kahvaltı servisimiz 13:00'te sona ermektedir; ancak bugün mutfağımızla görüşerek size özel bir istisna sağladık. Keyifli bir deneyim dileriz."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03704"/>
            <a:ext cx="8229600" cy="4014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Kendi başına kural esnetmek veya sorunu gizlemek kabul edilemez.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900">
                <a:solidFill>
                  <a:srgbClr val="969696"/>
                </a:solidFill>
                <a:latin typeface="Calibri"/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C0392B"/>
                </a:solidFill>
                <a:latin typeface="Arial"/>
              </a:defRPr>
            </a:pPr>
            <a:r>
              <a:t>37. Koordineli Mola ve İş Akışı Yönetimi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6583679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Servis akışının kesintisiz ilerlemesi için: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Birbiriyle bağlantılı birimler aynı anda molaya çıkamaz.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Mola planlaması, operasyonel boşluk yaratmayacak şekilde yapılır.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Ekip içi koordinasyon mola öncesinde tamamlanır.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b="1" sz="1400">
                <a:solidFill>
                  <a:srgbClr val="B40000"/>
                </a:solidFill>
                <a:latin typeface="Calibri"/>
              </a:defRPr>
            </a:pPr>
            <a:r>
              <a:t>HIZMETIN SÜREKLILIĞI ESASTIR.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Birim Çakışması: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Bar / Bar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Servis / Servis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Kasa / Vitrin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Aynı görev tanımına sahip veya birbirini yedeklemesi gereken bu birimlerin, aynı anda mola planlaması kabul edilemez.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Kritik Kural: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900">
                <a:solidFill>
                  <a:srgbClr val="969696"/>
                </a:solidFill>
                <a:latin typeface="Calibri"/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C0392B"/>
                </a:solidFill>
                <a:latin typeface="Arial"/>
              </a:defRPr>
            </a:pPr>
            <a:r>
              <a:t>37. Koordineli Mola ve İş Akışı Yönetimi (Devam)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7900416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Mola saatlerinde bireysel istek değil, operasyonel ihtiyaç önceliklidir. Yönetici onayı ve birimler arası mutabakat zorunludur.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900">
                <a:solidFill>
                  <a:srgbClr val="969696"/>
                </a:solidFill>
                <a:latin typeface="Calibri"/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C0392B"/>
                </a:solidFill>
                <a:latin typeface="Arial"/>
              </a:defRPr>
            </a:pPr>
            <a:r>
              <a:t>38. Boş Toplama ve Tepsi Düzeni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5102352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Servis güvenliği ve operasyonel hız için: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Ağırlık merkezde toplanmalıdır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Büyükten küçüğe doğru istifleme yapılmalıdır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Kırılma riski olan parçalar ayrıştırılmalıdır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Tepsi Dengesi: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Ağır ve büyük parçalar merkeze yerleştirilir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Bardaklar ve tabaklar kontrolsüz şekilde yığılamaz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Hatalı İstifleme: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Dengesi bozuk yükleme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900">
                <a:solidFill>
                  <a:srgbClr val="969696"/>
                </a:solidFill>
                <a:latin typeface="Calibri"/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C0392B"/>
                </a:solidFill>
                <a:latin typeface="Arial"/>
              </a:defRPr>
            </a:pPr>
            <a:r>
              <a:t>38. Boş Toplama ve Tepsi Düzeni (Devam)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6419088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Görüşü engelleyecek yükseklikte yığma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Tabakların kaymasına neden olacak dizim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b="1" sz="1400">
                <a:solidFill>
                  <a:srgbClr val="B4000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Düzenli dizilen tepsi; profesyonel görünüm ve iş güvenliği için zorunludur.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900">
                <a:solidFill>
                  <a:srgbClr val="969696"/>
                </a:solidFill>
                <a:latin typeface="Calibri"/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C0392B"/>
                </a:solidFill>
                <a:latin typeface="Arial"/>
              </a:defRPr>
            </a:pPr>
            <a:r>
              <a:t>39. Misafir Karşılama ve Proaktif Takip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6419088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Salonun canlılığı ve misafir konforu için: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Kapıdan giren her misafir anında fark edilmelidir.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Göz teması ve tebessüm ile "Hoş geldiniz" karşılaması yapılır.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Misafir, masaya yerleşene kadar eşlik edilir.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Müşteri kapıda bekletilemez, görmezden gelinemez.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İhtiyaç Hissetme (Proaktif Hizmet):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Misafir garsonu aramaz; garson misafiri izler.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Biten içecekler, azalan peçeteler ve boşalan tabaklar takip edilir.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Misafirin çevreye bakması veya el kaldırması "hizmet gecikmesi" olarak kabul edilir.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Takip Esasları: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Boşalan bardağın yenilenmesi teklif edilir.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900">
                <a:solidFill>
                  <a:srgbClr val="969696"/>
                </a:solidFill>
                <a:latin typeface="Calibri"/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C0392B"/>
                </a:solidFill>
                <a:latin typeface="Arial"/>
              </a:defRPr>
            </a:pPr>
            <a:r>
              <a:t>39. Misafir Karşılama ve Proaktif Takip (Devam)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7735823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İhtiyaç duyulmadan peçete/servis desteği sağlanır.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Misafirle göz teması kurmak için salon sürekli taranır.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Misafiri el kaldırmaya veya seslenmeye mecbur bırakmak kabul edilemez.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900">
                <a:solidFill>
                  <a:srgbClr val="969696"/>
                </a:solidFill>
                <a:latin typeface="Calibri"/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C0392B"/>
                </a:solidFill>
                <a:latin typeface="Arial"/>
              </a:defRPr>
            </a:pPr>
            <a:r>
              <a:t>40. Hazırlık ve Arka Plan (Back) İşleri Yönetimi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7900416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Servis kalitesinin sürekliliği için: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Çatal-bıçak silme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Takım ve ekipman çekme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İstifleme ve düzenleme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işleri, servis yoğunluğu ve misafir trafiğine göre planlanır.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Öncelik Sıralaması: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Misafir her zaman hazırlık işlerinden önceliklidir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Salon boş bırakılarak arka plana odaklanılamaz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Yoğunluk anında büyük çaplı hazırlık işlerine girilmesi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b="1" sz="1400">
                <a:solidFill>
                  <a:srgbClr val="B40000"/>
                </a:solidFill>
                <a:latin typeface="Calibri"/>
              </a:defRPr>
            </a:pPr>
            <a:r>
              <a:t>KABUL EDILEMEZ.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900">
                <a:solidFill>
                  <a:srgbClr val="969696"/>
                </a:solidFill>
                <a:latin typeface="Calibri"/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C0392B"/>
                </a:solidFill>
                <a:latin typeface="Arial"/>
              </a:defRPr>
            </a:pPr>
            <a:r>
              <a:t>40. Hazırlık ve Arka Plan (Back) İşleri Yönetimi (Devam)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Zamanlama ve Uygulama: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Hazırlıklar servis öncesi veya sakin saatlerde tamamlanır.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Mutfaktan takım çekme ve silme işlemleri misafiri rahatsız etmeyecek şekilde sessizce yürütülür.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Eksikler, servis krize girmeden proaktif (önceden) olarak giderilir.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b="1" sz="1400">
                <a:solidFill>
                  <a:srgbClr val="B40000"/>
                </a:solidFill>
                <a:latin typeface="Calibri"/>
              </a:defRPr>
            </a:pPr>
            <a:r>
              <a:t>SERVIS ÖNCELIĞI ESASTIR.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Arka plan işleri, servis akışını engellemek için değil, desteklemek içindir.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900">
                <a:solidFill>
                  <a:srgbClr val="969696"/>
                </a:solidFill>
                <a:latin typeface="Calibri"/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C0392B"/>
                </a:solidFill>
                <a:latin typeface="Arial"/>
              </a:defRPr>
            </a:pPr>
            <a:r>
              <a:t>41. Operasyonel İletişimde Netlik ve Kısalık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7242048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484632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09728" bIns="109728" wrap="square"/>
          <a:lstStyle/>
          <a:p>
            <a:pPr algn="ctr"/>
          </a:p>
          <a:p>
            <a:pPr>
              <a:defRPr sz="1300" i="1">
                <a:solidFill>
                  <a:srgbClr val="3C3C3C"/>
                </a:solidFill>
                <a:latin typeface="Calibri"/>
              </a:defRPr>
            </a:pPr>
            <a:r>
              <a:t>"3 kelimeyle anlatılabilecek bir durum, gereksiz detaylarla uzatılamaz."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47672"/>
            <a:ext cx="8229600" cy="4270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Hızlı ve hatasız iş akışı için: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İletişim en az kelimeyle, en net şekilde kurulmalıdır.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Uzun açıklamalar yerine sonuç odaklı cümleler seçilir.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Mesaj, karşı tarafın işini aksatmayacak hızda aktarılır.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Uzun ve Karmaşık Anlatım: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Dinleyicinin odağını dağıtır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Diğer işlerin unutulmasına neden olur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Operasyonu yavaşlatır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Anlatım Bozukluğu ve Karmaşa: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900">
                <a:solidFill>
                  <a:srgbClr val="969696"/>
                </a:solidFill>
                <a:latin typeface="Calibri"/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C0392B"/>
                </a:solidFill>
                <a:latin typeface="Arial"/>
              </a:defRPr>
            </a:pPr>
            <a:r>
              <a:t>41. Operasyonel İletişimde Netlik ve Kısalık (Devam)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Olayı saptırmak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Konuyu dolandırmak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Gereksiz detaylara girmek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b="1" sz="1400">
                <a:solidFill>
                  <a:srgbClr val="B4000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b="1" sz="1400">
                <a:solidFill>
                  <a:srgbClr val="B40000"/>
                </a:solidFill>
                <a:latin typeface="Calibri"/>
              </a:defRPr>
            </a:pPr>
            <a:r>
              <a:t>HIZLI, DOĞRUDAN VE NET ILETIŞIM ZORUNLUDUR.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900">
                <a:solidFill>
                  <a:srgbClr val="969696"/>
                </a:solidFill>
                <a:latin typeface="Calibri"/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C0392B"/>
                </a:solidFill>
                <a:latin typeface="Arial"/>
              </a:defRPr>
            </a:pPr>
            <a:r>
              <a:t>42. Son Hatırlatma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2962656" cy="381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Bef>
                <a:spcPts val="1400"/>
              </a:spcBef>
              <a:spcAft>
                <a:spcPts val="400"/>
              </a:spcAft>
              <a:defRPr b="1" sz="1600">
                <a:solidFill>
                  <a:srgbClr val="2C3E50"/>
                </a:solidFill>
                <a:latin typeface="Calibri"/>
              </a:defRPr>
            </a:pPr>
            <a:r>
              <a:t>OTTOBITE’de çalışmak;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Disiplin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Dikkat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Takım bilinci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ister.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Bu rehberde yer alan tüm maddeler uygulanmak zorundadır.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Ana Fikir: OTTOBITE çatısı altında hangi birimde olursak olalım, her birimiz markamızın yaşayan birer temsilcisiyiz. Temel değerimiz; birimler arası kusursuz bir uyum ve yüksek sorumluluk bilinciyle hareket ederek, misafirlerimize yalnızca bir hizmet değil, disiplin ve nezaketle örülmüş bir deneyim sunmaktır.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Bizim için başarı; mutfaktan kasaya, servisten bara kadar her noktada aynı profesyonel tavrı sergileyen "tek bir ekip" olabilmektir.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900">
                <a:solidFill>
                  <a:srgbClr val="969696"/>
                </a:solidFill>
                <a:latin typeface="Calibri"/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