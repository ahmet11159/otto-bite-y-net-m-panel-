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2062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9494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Bu doküman, OTTOBITE salon servisinde görev alan tüm servis personelinin;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40864"/>
            <a:ext cx="822960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9494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95097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Garsonluk yalnızca sipariş almak değildir.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Garson, salonun temposunu, misafirin ruh halini ve servisin akışını yönetir.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Şu unutulmamalıdır: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8229600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217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95097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Bu bölümde yer alan kurallar tartışmaya açık değildir.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Tüm servis personeli tarafından eksiksiz uygulanır.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“Her an çağrılabilirim”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8229600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Ton sakin, net ve kontrollü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4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4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2070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Bu bölüm, servis kalitesini doğrudan belirler.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Yoğunlukta hızlı olmak değil, doğru öncelik vermek önemlidir.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Panik, hatayı artırır.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Öncelik, düzeni sağlar.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52928"/>
            <a:ext cx="822960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669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Açılış ve kapanış saatlerinde uyuşukluk kabul edilemez.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 davranışlardır.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0350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4008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9377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4008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Sürekli uyarı gerektiren çalışma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7665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0233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0350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8521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217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669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9377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680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0350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5836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8521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2062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olarak hazır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217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7548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0233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95097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“Merhaba, ben Ahmet. Servisinizle ben ilgileneceğim.”</a:t>
            </a:r>
          </a:p>
          <a:p>
            <a:pPr>
              <a:spcBef>
                <a:spcPts val="400"/>
              </a:spcBef>
              <a:defRPr sz="1600" i="1">
                <a:solidFill>
                  <a:srgbClr val="3C3C3C"/>
                </a:solidFill>
                <a:latin typeface="Calibri"/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8229600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9494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40864"/>
            <a:ext cx="822960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500">
                <a:solidFill>
                  <a:srgbClr val="C0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3152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600">
                <a:solidFill>
                  <a:srgbClr val="C00000"/>
                </a:solidFill>
                <a:latin typeface="Calibri"/>
              </a:defRPr>
            </a:pPr>
            <a:r>
              <a:t>Hizmetin sürekliliği esastır.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669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1323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1323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7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5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Servis önceliği esastır.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0467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91440" bIns="91440" wrap="square"/>
          <a:lstStyle/>
          <a:p>
            <a:pPr algn="ctr"/>
          </a:p>
          <a:p>
            <a:pPr>
              <a:defRPr sz="1600" i="1">
                <a:solidFill>
                  <a:srgbClr val="3C3C3C"/>
                </a:solidFill>
                <a:latin typeface="Calibri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5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b="1" sz="1900">
                <a:solidFill>
                  <a:srgbClr val="C00000"/>
                </a:solidFill>
                <a:latin typeface="Calibri"/>
              </a:defRPr>
            </a:pPr>
            <a:r>
              <a:t>Hızlı,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29184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