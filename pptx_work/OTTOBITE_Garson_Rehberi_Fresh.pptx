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6B6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18096"/>
                </a:solidFill>
                <a:latin typeface="Arial"/>
              </a:defRPr>
            </a:pPr>
            <a:r>
              <a:t>Garson Davranışları ve İş Önceliği Rehberi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1/55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doküman, OTTOBITE salon servisinde görev alan tüm servis personelinin;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Doğru davranış biçimini benimsemesi,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Yoğun servis anlarında doğru iş önceliğini kurabilmesi,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054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Salon düzenini ve misafir memnuniyetini koruyabilmesi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amacıyla hazırlanmıştır.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1012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rehber okunmak için değil, uygulanmak için hazırlanmıştır.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2/55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Garsonluk yalnızca sipariş almak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Garson, salonun temposunu, misafirin ruh halini ve servisin akışını yönetir.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Misafir, işletmeyi;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Garsonun bakışından,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Konuşma tarzından,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Salondaki duruşundan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anlar ve değerlendirir.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OTTOBITE'de garson: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365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Göz önündedir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84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Dikkatlidir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Sorumluluk sahibidir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88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980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Şu unutulmamalıdır: Garsonun davranışı, işletmenin kalitesini temsil eder.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3/55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bölümde yer alan kurallar tartışmaya açık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Tüm servis personeli tarafından eksiksiz uygulanır.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Duruş ve Salon İçindeki Tavır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08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Garson salonda dik ve hazır durur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El cepte gezilmez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Kollar bağlı şekilde durulmaz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Duvara yaslanılmaz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982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Boş boş ayakta beklenmez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Garson salondayken: "Her an çağrılabilirim"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4/55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Masaya Yaklaşma ve İletişim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Masaya yaklaşırken göz teması kurulur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Masaya sırt dönülerek konuşulmaz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Misafirin yüzüne bakmadan sipariş alınmaz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Kullanılmaması gereken ifadeler: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"Bir saniye"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"Dur bakayım"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"Yoğunum"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068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Kullanılması gereken yaklaşım: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542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"Hemen ilgileniyorum"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0176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"Şimdi yardımcı oluyorum"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5896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55040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Ton sakin, net ve kontrollü olmalıdır.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5/55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Salon İçinde Davranış Disiplini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Personel kendi arasında yüksek sesle konuşmaz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Gülüşmeler misafir dikkatini çekecek seviyede olmaz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Telefon kesinlikle kullanılmaz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Şef salondayken: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Garson görünür olur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Kaçmaz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Saklanmaz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6/55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bölüm, servis kalitesini doğrudan belirler.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Yoğunlukta hızlı olmak değil, doğru öncelik vermek önemlidir.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3230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Panik, hatayı artırır.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5409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4553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Öncelik, düzeni sağlar.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5876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Doğru İş Önceliği Sıralaması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OTTOBITE servisinde garson şu sırayı bilmelidir: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9943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Yeni gelen misafir / boş masa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469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Sipariş vermek isteyen masa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94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Servisi çıkan masa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41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Hesap isteyen masa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Diğer işler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7/55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Her servis türü;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Dikkat,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Düzen,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Misafirle doğru iletişim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gerektirir.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Garson servis türüne göre zihinsel olarak hazırlanmalı ve her servisi aynı profesyonellikle yürütmelidir.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Aynı Anda Her Şey Yapılmaz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Aynı anda 5 masaya yetişmeye çalışılmaz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Bir işi yarım bırakıp diğerine geçilmez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5721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Yapılan iş tamamlanır, sonra diğerine geçilir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1441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70585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Şef yönlendirmesi her zaman önceliklidir.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8/55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Aşağıdaki davranışlar servis kalitesini düşürür ve kabul edilmez: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"Ben o masaya bakmıyorum" demek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Masayı görmezden gelmek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Mutfaktan veya salondan kaçmak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Şefe savunma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 önünde tartışmak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930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844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9/55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Salon şefi, servisin düzeninden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Garson şunu bilmelidir: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Şef uyarısı kişisel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Şef yönlendirmesi tartışılmaz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Servis sırasında savunma yapılmaz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10/55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Açılış ve kapanış saatlerinde uyuşukluk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Yavaş hareket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Eğlence modunda çalışmak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Sürekli sohbet halinde olmak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0.5x hızla iş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 davranışlardır.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027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Açılış ve kapanış: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Dikkat 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Odak 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Disiplin 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0235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9379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11/55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Bir garson şunu bilmelidir: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3 dakikalık bir iş 15 dakikaya uzatılamaz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Yavaşlık beceri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Odağın dağılması iş aksatır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Kendi postasında yapacağı 4 basit işi;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Sohbet ederek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Etrafla ilgilenerek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Önceliği yanlış belirleyerek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uzatmak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3542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2686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12/55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Sürekli şikâyet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Yakınmak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Uflamak, puflamak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Yüz mimikleriyle ima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kesinlikle kabul edilemez.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Garsonun yüz ifadesi ve beden dili;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Takım arkadaşlarına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Operasyona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8289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olumsuz yansır.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13/55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Gruplaşma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Dedikodu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Kulis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OTTOBITE çalışma düzenine aykırıdır.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Farklı departman şefleriyle veya personelleriyle: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45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Tartışmaya girmek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Münakaşa yaşamak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0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Sorunlar servis dışında ve doğru kanallarla iletilir.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14/55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Yönetim tarafından belirlenen kuralları: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Esnetmek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Suistimal etmek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Kendi lehine yorumlamak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Herkes: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İş esnasında uyumlu olmak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Kendi görevini en iyi şekilde yapmak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zorundadır.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15/55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Hiçbir personel başka bir personelin molasını takip etmez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Molalar yönetim tarafından düzenlenir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konuda bireysel kontrol veya yorum yapılmaz.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16/55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Garson kendi postasındaki masalardan tamamen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Sürekli uyarılan durumlar: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Toplanmamış peçeteler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Islak mendil çöpleri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Şişe boşları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Değiştirilmemiş kül tablaları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Masa üzerindeki müşteri çöpleri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İyi bir garson kendi postasındaki 5 masayı eksiksiz yönetir.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6227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5371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Sürekli uyarı gerektiren çalışma kabul edilemez.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17/55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Bayan personel saçını açık kullanamaz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İş kıyafeti ne ise o giyilir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Kıyafet dışında kişisel yorum yapılmaz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Görünüm işletmenin ciddiyetini yansıtır.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18/55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OTTOBITE servisinin en önemli unsuru iletişimdir.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Servisin hatasız ilerlemesi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Posta kontrolü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Yoğunluk yönetimi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ancak doğru iletişimle sağlanır.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Posta terk edilecekse: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027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Takım arkadaşları bilgilendirilir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Şef haberdar edilir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Habersiz posta terk edilemez.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19/55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Hiçbir personel başka bir personele üstü gibi davranamaz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Yetki yalnızca görev tanımıyla sınırlıdır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Saygı karşılıklıdır ve herkes için geçerlidir.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20/55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İşe geç kalmak;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Operasyonu aksatır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Takım arkadaşlarını zor durumda bırakır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Servis düzenini bozar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Geç kalmak bir alışkanlık hâline gelemez.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1985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Her personel vardiyasına: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Zamanında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Hazır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İşe odaklanmış şekilde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974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başlamak zorundadır.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21/55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Misafir kalktığında yalnızca masa üstü değil;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Masa altı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Sandalyeler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Genel düzen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kontrol 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Masa altına faraş atılmadan yeni misafir alınmaz.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Temizlenmeyen masa, yarım yapılmış iştir.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22/55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Servis bireysel değil, ekip işidir.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Kendi postasında işi olan garson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Diğer postadaki garson müsaitse destek verir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491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Eğer: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723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638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Senin aklında 5 iş varsa diğer posta boş duruyorsa yardım istemek zorunluluktur.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23/55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Servisin aksamaması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Herkes birbirine konuşabilmelidir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Kimse bir şey söylemeye çekinmemelidir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Bir personel, başka bir personele bir şey demeye çekinirse iş aksar.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238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İletişimde: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Açıklık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Netlik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24/55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İmalı konuşmalar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Sessiz tepkiler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Yüz mimikleriyle mesaj verme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8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89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Sorun varsa açıkça ve doğru yerde dile getirilir.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25/55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Boş boş gezmek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Oyalandığı izlenimi vermek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Gereksiz hareketlerle zaman harcamak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Her an yapılacak bir iş vardır.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26/55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Her garson kendi alanını sahiplenir.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"Orası benim alanım değil" yaklaşımı yoktur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Salon herkesindir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49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İhtiyaç olan yerde destek olunur.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27/55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Mutfak ve bar: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Tartışma alanı değildir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Emir verilen yer değildir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İletişim saygılı ve net 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28/55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Yoğunluk: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Ses yükseltme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Koşturma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Panik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sebebi değildir.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Kontrollü çalışan garson, yoğunluğu yönetir.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29/55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Misafir önünde: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Uyarı yapılmaz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Tartışılmaz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Rol kesilmez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Tüm ekip tek vücut gibi görünmelidir.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30/55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Kişisel problemler: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Yüz ifadelerine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Tavırlara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Konuşmalara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yansıtılamaz.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31/55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İş bitmeden: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Rahatlama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Dağılma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Tempo düşürme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32/55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Aynı hatanın sürekli yapılması: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Dikkatsizliktir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Umursamazlıktır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33/55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İyi bir garson: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Uyarı beklemez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Kendini kontrol eder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Eksiklerini fark eder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34/55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Vardiya boyunca: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Zihinsel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Fiziksel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olarak hazır olmak zorunludur.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35/55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Gereksiz şaka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Aşırı samimiyet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36/55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Herkes kendi görev tanımı içinde hareket eder.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Yetki aşımı yapılamaz.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37/55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Herkesin ortak amacı: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Düzgün servis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Hatasız operasyon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Memnun misafir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38/55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Servis kalitesinin ölçülmesi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İsim verilerek selamlanmalıdır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Servis sahiplenilmelidir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 görmezden gelinemez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"Merhaba, ben Ahmet. Servisinizle ben ilgileneceğim."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QR Talebi ve Zamanlama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Servis bitimi beklenir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Sohbet bölünmez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Baskı kurulmaz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39/55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"Sizleri ağırlamak bir keyifti. Hizmet kalitemiz hakkındaki olumlu geri bildirimleriniz, ekibimiz için motivasyon kaynağı olacaktır."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İletişim ve Tavır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Göz teması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26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Nötr ve nazik yüz ifadesi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Profesyonel mesafe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Savunma, ima ve gereksiz mizah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365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40/55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Misafir şikayeti veya olumsuz geri bildirim durumunda: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İlgili yöneticiye anında haber verilir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Personel kendi başına karar almaz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Kişisel çözüm sürecine girilmez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Yönetici bilgilendirmesi zorunludur.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İnisiyatif ve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Misafirin mutlu ayrılması esastır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Operasyonel kurallar yönetici kontrolünde esnetilebilir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41/55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Bilgilendirme Yükümlülüğü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55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46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Sunulan çözüm, "istisnai bir durum" olduğu vurgulanarak misafire aktarılır.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59736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Örnek Diyalog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1304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0448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42/55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Servis akışının kesintisiz ilerlemesi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Birbiriyle bağlantılı birimler aynı anda molaya çıkamaz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Mola planlaması, operasyonel boşluk yaratmayacak şekilde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Ekip içi koordinasyon mola öncesinde tamamlanır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Hizmetin sürekliliği esastır.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Birim Çakışması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Bar /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Servis / Servis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Kasa / Vitrin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43/55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37. Koordineli Mola ve İş Akışı Yönetimi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Aynı görev tanımına sahip veya birbirini yedeklemesi gereken birimlerin aynı anda mola planlaması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Kritik Kural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151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066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Mola saatlerinde bireysel istek değil, operasyonel ihtiyaç önceliklidir.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3697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2841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Yönetici onayı ve birimler arası mutabakat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44/55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Servis güvenliği ve operasyonel hız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Ağırlık merkezde toplanmalıdır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Büyükten küçüğe doğru istifleme yapılmalıdır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Kırılma riski olan parçalar ayrıştırılmalıdır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Tepsi Dengesi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Ağır ve büyük parçalar merkeze yerleştirilir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Bardaklar ve tabaklar kontrolsüz şekilde yığılamaz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45/55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Hatalı İstifleme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Dengesi bozuk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Görüşü engelleyecek yükseklikte yığma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Tabakların kaymasına neden olacak dizim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46/55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Salonun canlılığı ve misafir konforu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Kapıdan giren her misafir anında fark edilmelidir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Göz teması ve tebessüm ile "Hoş geldiniz" karşılaması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Misafir, masaya yerleşene kadar eşlik edilir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Müşteri kapıda bekletilemez, görmezden gelinemez.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47/55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İhtiyaç Hissetme (Proaktif Hizmet)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 garsonu aramaz; garson misafiri izler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Biten içecekler, azalan peçeteler ve boşalan tabaklar takip edilir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9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51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Misafirin çevreye bakması veya el kaldırması "hizmet gecikmesi" olarak kabul edilir.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Takip Esasları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Boşalan bardağın yenilenmesi teklif edilir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İhtiyaç duyulmadan peçete/servis desteği sağlanır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525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Misafirle göz teması kurmak için salon sürekli taranır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48/55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49/55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Servis kalitesinin sürekliliği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Çatal-bıçak silme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Takım ve ekipman çekme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İstifleme ve düzenleme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işleri, servis yoğunluğu ve misafir trafiğine göre planlanır.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Öncelik Sıralaması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Misafir her zaman hazırlık işlerinden önceliklidir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Salon boş bırakılarak arka plana odaklanılamaz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970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Yoğunluk anında büyük çaplı hazırlık işlerine girilmesi kabul edilemez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50/55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Zamanlama ve Uygulama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Hazırlıklar servis öncesi veya sakin saatlerde tamamlanır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Mutfaktan takım çekme ve silme işlemleri misafiri rahatsız etmeyecek şekilde sessizce yürütülür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Eksikler, servis krize girmeden proaktif (önceden) olarak giderilir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Servis önceliği esastır.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51/55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Hızlı ve hatasız iş akışı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İletişim en az kelimeyle, en net şekilde kurulmalıdır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Uzun açıklamalar yerine sonuç odaklı cümleler seçilir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Mesaj, karşı tarafın işini aksatmayacak hızda aktarılır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Uzun ve Karmaşık Anlatım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Dinleyicinin odağını dağıtır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Diğer işlerin unutulmasına neden olur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Operasyonu yavaşlatır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52/55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Anlatım Bozukluğu ve Karmaşa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Olayı saptırmak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Konuyu dolandırmak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Gereksiz detaylara girmek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Hızlı, doğrudan ve net iletişim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53/55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6B6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OTTOBITE'de çalışmak;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Disiplin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Dikkat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718096"/>
                </a:solidFill>
                <a:latin typeface="Arial"/>
              </a:defRPr>
            </a:pPr>
            <a:r>
              <a:t>●  Takım bilinci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  <a:latin typeface="Arial"/>
              </a:defRPr>
            </a:pPr>
            <a:r>
              <a:t>ister.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  <a:latin typeface="Arial"/>
              </a:defRPr>
            </a:pPr>
            <a:r>
              <a:t>Bu rehberde yer alan tüm maddeler uygulanmak zorundadır.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54/55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6B"/>
                </a:solidFill>
                <a:latin typeface="Arial"/>
              </a:defRPr>
            </a:pPr>
            <a:r>
              <a:t>Ana Fikir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748"/>
                </a:solidFill>
                <a:latin typeface="Arial"/>
              </a:defRPr>
            </a:pPr>
            <a:r>
              <a:t>OTTOBITE çatısı altında hangi birimde olursak olalım, her birimiz markamızın yaşayan birer temsilcisiyiz.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7295" cy="10058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748"/>
                </a:solidFill>
                <a:latin typeface="Arial"/>
              </a:defRPr>
            </a:pPr>
            <a:r>
              <a:t>Temel değerimiz; birimler arası kusursuz bir uyum ve yüksek sorumluluk bilinciyle hareket ederek, misafirlerimize yalnızca bir hizmet değil, disiplin ve nezaketle örülmüş bir deneyim sunmaktır.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3748"/>
                </a:solidFill>
                <a:latin typeface="Arial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EC0"/>
                </a:solidFill>
                <a:latin typeface="Arial"/>
              </a:defRPr>
            </a:pPr>
            <a:r>
              <a:t>55/55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