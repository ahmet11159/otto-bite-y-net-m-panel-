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E07A5F"/>
                </a:solidFill>
                <a:latin typeface="Arial"/>
              </a:defRPr>
            </a:pPr>
            <a:r>
              <a:t>OTTOBITE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C6B73"/>
                </a:solidFill>
                <a:latin typeface="Arial"/>
              </a:defRPr>
            </a:pPr>
            <a:r>
              <a:t>Garson Davranışları ve İş Önceliği Rehberi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1/55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Amaç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Bu doküman, OTTOBITE salon servisinde görev alan tüm servis personelinin;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Doğru davranış biçimini benimsemesi,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5798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Yoğun servis anlarında doğru iş önceliğini kurabilmesi,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054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Salon düzenini ve misafir memnuniyetini koruyabilmesi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529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amacıyla hazırlanmıştır.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1012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40156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Bu rehber okunmak için değil, uygulanmak için hazırlanmıştır.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2/55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1. Garsonluk Bilinci ve Temel Zihniyet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Garsonluk yalnızca sipariş almak değildir.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Garson, salonun temposunu, misafirin ruh halini ve servisin akışını yönetir.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4203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Misafir, işletmeyi;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950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Garsonun bakışından,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369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Konuşma tarzından,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844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Salondaki duruşundan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anlar ve değerlendirir.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OTTOBITE'de garson: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365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Göz önündedir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84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Dikkatlidir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31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Sorumluluk sahibidir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887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9801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Şu unutulmamalıdır: Garsonun davranışı, işletmenin kalitesini temsil eder.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3/55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2. Temel Garson Davranış Kuralları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Bu bölümde yer alan kurallar tartışmaya açık değildir.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Tüm servis personeli tarafından eksiksiz uygulanır.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Duruş ve Salon İçindeki Tavır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083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Garson salonda dik ve hazır durur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558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El cepte gezilmez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Kollar bağlı şekilde durulmaz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507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Duvara yaslanılmaz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982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Boş boş ayakta beklenmez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54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Garson salondayken: "Her an çağrılabilirim" bilinciyle hareket eder.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4/55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Masaya Yaklaşma ve İletişim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Masaya yaklaşırken göz teması kurulur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Masaya sırt dönülerek konuşulmaz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Misafirin yüzüne bakmadan sipariş alınmaz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7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Kullanılmaması gereken ifadeler: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"Bir saniye"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"Dur bakayım"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"Yoğunum"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068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Kullanılması gereken yaklaşım: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5429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"Hemen ilgileniyorum"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0176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"Şimdi yardımcı oluyorum"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45896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55040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Ton sakin, net ve kontrollü olmalıdır.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5/55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2. Temel Garson Davranış Kuralları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Salon İçinde Davranış Disiplini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Personel kendi arasında yüksek sesle konuşmaz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Gülüşmeler misafir dikkatini çekecek seviyede olmaz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Telefon kesinlikle kullanılmaz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7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Şef salondayken: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Garson görünür olur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Kaçmaz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Saklanmaz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6/55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3. Yoğun Serviste Garsonun Düşünme Şekli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Bu bölüm, servis kalitesini doğrudan belirler.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105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Yoğunlukta hızlı olmak değil, doğru öncelik vermek önemlidir.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3230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2374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Panik, hatayı artırır.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5409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14553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Öncelik, düzeni sağlar.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5876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Doğru İş Önceliği Sıralaması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OTTOBITE servisinde garson şu sırayı bilmelidir: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9943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Yeni gelen misafir / boş masa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4690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Sipariş vermek isteyen masa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9437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Servisi çıkan masa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4184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Hesap isteyen masa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Diğer işler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7/55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3. Yoğun Serviste Garsonun Düşünme Şekli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Her servis türü;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Dikkat,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Düzen,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Misafirle doğru iletişim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gerektirir.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Garson servis türüne göre zihinsel olarak hazırlanmalı ve her servisi aynı profesyonellikle yürütmelidir.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Aynı Anda Her Şey Yapılmaz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622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Aynı anda 5 masaya yetişmeye çalışılmaz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97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Bir işi yarım bırakıp diğerine geçilmez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5721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Yapılan iş tamamlanır, sonra diğerine geçilir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1441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70585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Şef yönlendirmesi her zaman önceliklidir.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8/55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4. Yoğun Serviste Yapılmaması Gereken Davranışlar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Aşağıdaki davranışlar servis kalitesini düşürür ve kabul edilmez: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"Ben o masaya bakmıyorum" demek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Masayı görmezden gelmek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Mutfaktan veya salondan kaçmak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Şefe savunma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Misafir önünde tartışmak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930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844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Bu davranışlar OTTOBITE servis anlayışına uygun değildir.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9/55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5. Garson – Salon Şefi İlişkisi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Salon şefi, servisin düzeninden sorumludur.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Garson şunu bilmelidir: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Şef uyarısı kişisel değildir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Şef yönlendirmesi tartışılmaz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Servis sırasında savunma yapılmaz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455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369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Servis anında uygulama yapılır, değerlendirme servis sonrası yapılır.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10/55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7. Açılış ve Kapanış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Açılış ve kapanış saatlerinde uyuşukluk kabul edilemez.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Yavaş hareket 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Eğlence modunda çalışmak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Sürekli sohbet halinde olmak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0.5x hızla iş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kabul edilemez davranışlardır.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027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Açılış ve kapanış: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Dikkat 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Odak 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45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Disiplin ister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0235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19379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Açılış ve kapanış ne kadar düzgün yapılırsa, vardiya o kadar rahat geçer.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11/55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8. İş Hızı ve İş Önceliği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Bir garson şunu bilmelidir: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3 dakikalık bir iş 15 dakikaya uzatılamaz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Yavaşlık beceri değildir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Odağın dağılması iş aksatır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Kendi postasında yapacağı 4 basit işi;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Sohbet ederek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Etrafla ilgilenerek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Önceliği yanlış belirleyerek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782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uzatmak kabul edilemez.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3542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62686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İşte olduğunu bilmek ve buna göre davranmak zorunluluktur.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12/55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9. İş Esnasında Tutum ve Beden Dili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Sürekli şikâyet 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Yakınmak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Uflamak, puflamak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Yüz mimikleriyle ima yapmak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358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kesinlikle kabul edilemez.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Garsonun yüz ifadesi ve beden dili;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Misafire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Takım arkadaşlarına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354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Operasyona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8289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olumsuz yansır.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13/55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10. Gruplaşma, Dedikodu ve İletişim Sorunları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Gruplaşma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Dedikodu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Kulis yapmak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OTTOBITE çalışma düzenine aykırıdır.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980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Farklı departman şefleriyle veya personelleriyle: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45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Tartışmaya girmek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Münakaşa yaşamak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502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074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988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Sorunlar servis dışında ve doğru kanallarla iletilir.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14/55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11. Kurallara Uyum ve Profesyonel Davranış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Yönetim tarafından belirlenen kuralları: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Esnetmek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Suistimal etmek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Kendi lehine yorumlamak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Herkes: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İş esnasında uyumlu olmak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Kendi görevini en iyi şekilde yapmak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795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zorundadır.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15/55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12. Molalar ve Görev Takibi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Hiçbir personel başka bir personelin molasını takip etmez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Molalar yönetim tarafından düzenlenir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933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Bu konuda bireysel kontrol veya yorum yapılmaz.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16/55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13. Posta Yönetimi ve Masa Kontrolü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Garson kendi postasındaki masalardan tamamen sorumludur.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Sürekli uyarılan durumlar: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Toplanmamış peçeteler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Islak mendil çöpleri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Şişe boşları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Değiştirilmemiş kül tablaları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Masa üzerindeki müşteri çöpleri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İyi bir garson kendi postasındaki 5 masayı eksiksiz yönetir.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6227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55371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Sürekli uyarı gerektiren çalışma kabul edilemez.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17/55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14. Kişisel Görünüm ve Kıyafet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Bayan personel saçını açık kullanamaz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İş kıyafeti ne ise o giyilir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Kıyafet dışında kişisel yorum yapılmaz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Görünüm işletmenin ciddiyetini yansıtır.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18/55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15. İletişim Bilinci (EN ÖNEMLİ KONU)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OTTOBITE servisinin en önemli unsuru iletişimdir.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Servisin hatasız ilerlemesi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Posta kontrolü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408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Yoğunluk yönetimi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980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ancak doğru iletişimle sağlanır.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Posta terk edilecekse: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027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Takım arkadaşları bilgilendirilir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502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Şef haberdar edilir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074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988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Habersiz posta terk edilemez.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19/55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16. Hiyerarşi ve Saygı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Hiçbir personel başka bir personele üstü gibi davranamaz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Yetki yalnızca görev tanımıyla sınırlıdır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933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848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Saygı karşılıklıdır ve herkes için geçerlidir.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20/55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17. İşe Zamanında Gelme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İşe geç kalmak;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Operasyonu aksatır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Takım arkadaşlarını zor durumda bırakır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Servis düzenini bozar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Geç kalmak bir alışkanlık hâline gelemez.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1985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Her personel vardiyasına: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Zamanında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Hazır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622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İşe odaklanmış şekilde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974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başlamak zorundadır.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21/55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18. Masa Kalkış Sonrası Temizlik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Misafir kalktığında yalnızca masa üstü değil;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Masa altı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Sandalyeler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Genel düzen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kontrol edilir.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Masa altına faraş atılmadan yeni misafir alınmaz.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Temizlenmeyen masa, yarım yapılmış iştir.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22/55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19. Yardımlaşma ve Takım Bilinci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Servis bireysel değil, ekip işidir.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Kendi postasında işi olan garson çalışır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Diğer postadaki garson müsaitse destek verir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2491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Eğer: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7238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6382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Senin aklında 5 iş varsa diğer posta boş duruyorsa yardım istemek zorunluluktur.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23/55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20. İletişimde Esneklik ve Açıklık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Servisin aksamaması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Herkes birbirine konuşabilmelidir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Kimse bir şey söylemeye çekinmemelidir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Bir personel, başka bir personele bir şey demeye çekinirse iş aksar.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7238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İletişimde: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198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Esneklik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Açıklık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Netlik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7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zorunludur.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24/55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21. Sessiz Tepki ve İma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İmalı konuşmalar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Sessiz tepkiler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Yüz mimikleriyle mesaj verme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980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895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Sorun varsa açıkça ve doğru yerde dile getirilir.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25/55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22. Boş Durma ve Oyalama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Boş boş gezmek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Oyalandığı izlenimi vermek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Gereksiz hareketlerle zaman harcamak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455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369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Her an yapılacak bir iş vardır.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26/55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23. Alan Sahiplenme Bilinci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Her garson kendi alanını sahiplenir.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"Orası benim alanım değil" yaklaşımı yoktur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Salon herkesindir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2491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1635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İhtiyaç olan yerde destek olunur.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27/55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24. Mutfak ve Bar ile İletişim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Mutfak ve bar: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Tartışma alanı değildir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Emir verilen yer değildir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408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İletişim saygılı ve net olmalıdır.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28/55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25. Yoğunlukta Sessiz ve Kontrollü Çalışma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Yoğunluk: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Ses yükseltme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Koşturma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Panik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sebebi değildir.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Kontrollü çalışan garson, yoğunluğu yönetir.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29/55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26. Misafir Önünde Ekip Disiplini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Misafir önünde: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Uyarı yapılmaz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Tartışılmaz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Rol kesilmez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Tüm ekip tek vücut gibi görünmelidir.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30/55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27. Kişisel Sorunları İşe Yansıtmama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Kişisel problemler: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Yüz ifadelerine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Tavırlara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Konuşmalara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yansıtılamaz.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31/55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28. İş Bitmeden Rahatlama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İş bitmeden: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Rahatlama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Dağılma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Tempo düşürme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32/55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29. Tekrar Eden Hatalar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Aynı hatanın sürekli yapılması: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Dikkatsizliktir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Umursamazlıktır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4086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33/55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30. Kendi Kendini Kontrol Etme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İyi bir garson: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Uyarı beklemez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Kendini kontrol eder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Eksiklerini fark eder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34/55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31. Vardiya Boyunca Hazır Olma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Vardiya boyunca: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Zihinsel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Fiziksel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olarak hazır olmak zorunludur.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35/55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32. Gereksiz Yorum ve Mizah Yasağı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Servis sırasında: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Gereksiz şaka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Aşırı samimiyet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36/55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33. Görev Tanımına Sadakat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Herkes kendi görev tanımı içinde hareket eder.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Yetki aşımı yapılamaz.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37/55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34. Ortak Amaç Bilinci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Herkesin ortak amacı: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Düzgün servis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Hatasız operasyon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Memnun misafir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olmalıdır.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38/55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35. QR Değerlendirme ve Misafir Geri Bildirimi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Servis kalitesinin ölçülmesi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İsim verilerek selamlanmalıdır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Servis sahiplenilmelidir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Misafir görmezden gelinemez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"Merhaba, ben Ahmet. Servisinizle ben ilgileneceğim."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QR Talebi ve Zamanlama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Servis bitimi beklenir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Sohbet bölünmez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Baskı kurulmaz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39/55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35. QR Değerlendirme ve Misafir Geri Bildirimi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"Sizleri ağırlamak bir keyifti. Hizmet kalitemiz hakkındaki olumlu geri bildirimleriniz, ekibimiz için motivasyon kaynağı olacaktır."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2199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İletişim ve Tavır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Göz teması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6265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Nötr ve nazik yüz ifadesi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1012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Profesyonel mesafe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zorunludur.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Savunma, ima ve gereksiz mizah kabul edilemez.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36592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828032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Her garson, servisinin puanlanacağı bilinciyle hareket eder.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40/55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36. Memnuniyetsizlik Yönetimi ve Çözüm Süreci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Misafir şikayeti veya olumsuz geri bildirim durumunda: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İlgili yöneticiye anında haber verilir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Personel kendi başına karar almaz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Kişisel çözüm sürecine girilmez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Yönetici bilgilendirmesi zorunludur.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İnisiyatif ve Esneklik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Misafirin mutlu ayrılması esastır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Operasyonel kurallar yönetici kontrolünde esnetilebilir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41/55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36. Memnuniyetsizlik Yönetimi ve Çözüm Süreci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Bilgilendirme Yükümlülüğü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5506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4650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Sunulan çözüm, "istisnai bir durum" olduğu vurgulanarak misafire aktarılır.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59736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Örnek Diyalog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52928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944368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"Normalde kahvaltı servisimiz 13:00'te sona ermektedir; ancak bugün mutfağımızla görüşerek size özel bir istisna sağladık. Keyifli bir deneyim dileriz."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1304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0448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Kendi başına kural esnetmek veya sorunu gizlemek kabul edilemez.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42/55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37. Koordineli Mola ve İş Akışı Yönetimi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Servis akışının kesintisiz ilerlemesi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Birbiriyle bağlantılı birimler aynı anda molaya çıkamaz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Mola planlaması, operasyonel boşluk yaratmayacak şekilde yapılır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Ekip içi koordinasyon mola öncesinde tamamlanır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Hizmetin sürekliliği esastır.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Birim Çakışması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Bar /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Servis / Servis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Kasa / Vitrin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43/55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37. Koordineli Mola ve İş Akışı Yönetimi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Aynı görev tanımına sahip veya birbirini yedeklemesi gereken birimlerin aynı anda mola planlaması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2199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Kritik Kural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15184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06624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Mola saatlerinde bireysel istek değil, operasyonel ihtiyaç önceliklidir.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3697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32841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Yönetici onayı ve birimler arası mutabakat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44/55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38. Boş Toplama ve Tepsi Düzeni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Servis güvenliği ve operasyonel hız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Ağırlık merkezde toplanmalıdır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Büyükten küçüğe doğru istifleme yapılmalıdır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Kırılma riski olan parçalar ayrıştırılmalıdır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Tepsi Dengesi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Ağır ve büyük parçalar merkeze yerleştirilir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Bardaklar ve tabaklar kontrolsüz şekilde yığılamaz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45/55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38. Boş Toplama ve Tepsi Düzeni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Hatalı İstifleme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Dengesi bozuk yükleme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Görüşü engelleyecek yükseklikte yığma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Tabakların kaymasına neden olacak dizim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Düzenli dizilen tepsi; profesyonel görünüm ve iş güvenliği için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46/55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39. Misafir Karşılama ve Proaktif Takip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Salonun canlılığı ve misafir konforu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Kapıdan giren her misafir anında fark edilmelidir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Göz teması ve tebessüm ile "Hoş geldiniz" karşılaması yapılır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Misafir, masaya yerleşene kadar eşlik edilir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Müşteri kapıda bekletilemez, görmezden gelinemez.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47/55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İhtiyaç Hissetme (Proaktif Hizmet)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Misafir garsonu aramaz; garson misafiri izler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Biten içecekler, azalan peçeteler ve boşalan tabaklar takip edilir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597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511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Misafirin çevreye bakması veya el kaldırması "hizmet gecikmesi" olarak kabul edilir.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644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Takip Esasları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Boşalan bardağın yenilenmesi teklif edilir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050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İhtiyaç duyulmadan peçete/servis desteği sağlanır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525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Misafirle göz teması kurmak için salon sürekli taranır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48/55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39. Misafir Karşılama ve Proaktif Takip (devam)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Misafiri el kaldırmaya veya seslenmeye mecbur bırakmak kabul edilemez.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49/55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40. Hazırlık ve Arka Plan (Back) İşleri Yönetimi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Servis kalitesinin sürekliliği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Çatal-bıçak silme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Takım ve ekipman çekme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İstifleme ve düzenleme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işleri, servis yoğunluğu ve misafir trafiğine göre planlanır.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Öncelik Sıralaması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Misafir her zaman hazırlık işlerinden önceliklidir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962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Salon boş bırakılarak arka plana odaklanılamaz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9709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Yoğunluk anında büyük çaplı hazırlık işlerine girilmesi kabul edilemez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50/55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40. Hazırlık ve Arka Plan (Back) İşleri Yönetimi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Zamanlama ve Uygulama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Hazırlıklar servis öncesi veya sakin saatlerde tamamlanır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Mutfaktan takım çekme ve silme işlemleri misafiri rahatsız etmeyecek şekilde sessizce yürütülür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Eksikler, servis krize girmeden proaktif (önceden) olarak giderilir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072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986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Servis önceliği esastır.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Arka plan işleri, servis akışını engellemek için değil, desteklemek içindir.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51/55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41. Operasyonel İletişimde Netlik ve Kısalık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Hızlı ve hatasız iş akışı için: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İletişim en az kelimeyle, en net şekilde kurulmalıdır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Uzun açıklamalar yerine sonuç odaklı cümleler seçilir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Mesaj, karşı tarafın işini aksatmayacak hızda aktarılır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88336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79776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"3 kelimeyle anlatılabilecek bir durum, gereksiz detaylarla uzatılamaz."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Uzun ve Karmaşık Anlatım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Dinleyicinin odağını dağıtır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Diğer işlerin unutulmasına neden olur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8114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Operasyonu yavaşlatır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52/55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41. Operasyonel İletişimde Netlik ve Kısalık (devam)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C95A48"/>
                </a:solidFill>
                <a:latin typeface="Arial"/>
              </a:defRPr>
            </a:pPr>
            <a:r>
              <a:t>Anlatım Bozukluğu ve Karmaşa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550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Olayı saptırmak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Konuyu dolandırmak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Gereksiz detaylara girmek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kabul edilemez.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Hızlı, doğrudan ve net iletişim zorunludur.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53/55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07A5F"/>
                </a:solidFill>
                <a:latin typeface="Arial"/>
              </a:defRPr>
            </a:pPr>
            <a:r>
              <a:t>42. Son Hatırlatma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OTTOBITE'de çalışmak;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36192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Disiplin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Dikkat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11002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C6B73"/>
                </a:solidFill>
                <a:latin typeface="Arial"/>
              </a:defRPr>
            </a:pPr>
            <a:r>
              <a:t>●  Takım bilinci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5C6B73"/>
                </a:solidFill>
                <a:latin typeface="Arial"/>
              </a:defRPr>
            </a:pPr>
            <a:r>
              <a:t>ister.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35808"/>
            <a:ext cx="11277295" cy="5486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27248"/>
            <a:ext cx="11002975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Bu rehberde yer alan tüm maddeler uygulanmak zorundadır.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54/55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07A5F"/>
                </a:solidFill>
                <a:latin typeface="Arial"/>
              </a:defRPr>
            </a:pPr>
            <a:r>
              <a:t>Ana Fikir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4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  <a:latin typeface="Arial"/>
              </a:defRPr>
            </a:pPr>
            <a:r>
              <a:t>OTTOBITE çatısı altında hangi birimde olursak olalım, her birimiz markamızın yaşayan birer temsilcisiyiz.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11277295" cy="10058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100297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  <a:latin typeface="Arial"/>
              </a:defRPr>
            </a:pPr>
            <a:r>
              <a:t>Temel değerimiz; birimler arası kusursuz bir uyum ve yüksek sorumluluk bilinciyle hareket ederek, misafirlerimize yalnızca bir hizmet değil, disiplin ve nezaketle örülmüş bir deneyim sunmaktır.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20440"/>
            <a:ext cx="11277295" cy="777240"/>
          </a:xfrm>
          <a:prstGeom prst="roundRect">
            <a:avLst>
              <a:gd name="adj" fmla="val 8000"/>
            </a:avLst>
          </a:prstGeom>
          <a:solidFill>
            <a:srgbClr val="3A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110029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F2937"/>
                </a:solidFill>
                <a:latin typeface="Arial"/>
              </a:defRPr>
            </a:pPr>
            <a:r>
              <a:t>Bizim için başarı; mutfaktan kasaya, servisten bara kadar her noktada aynı profesyonel tavrı sergileyen "tek bir ekip" olabilmektir.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CA3AF"/>
                </a:solidFill>
                <a:latin typeface="Arial"/>
              </a:defRPr>
            </a:pPr>
            <a:r>
              <a:t>55/55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